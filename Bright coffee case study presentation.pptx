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Data%20consisting%20of%20categorized%20data%20V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oleObject" Target="file:///C:\Users\andile.ngcongwane\Documents\Personal\Data%20analytics\Exercises\Responses\Bright%20coffee%20shop\Downloaded%20querries\Refined%20querries\Transaction%20qty%20per%20product%20category.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C:\Users\andile.ngcongwane\Documents\Personal\Data%20analytics\Exercises\Responses\Bright%20coffee%20shop\Downloaded%20querries\Refined%20querries\Transaction%20qty%20per%20product%20category.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V2.xlsx]Number of sales over 6 months!PivotTable1</c:name>
    <c:fmtId val="42"/>
  </c:pivotSource>
  <c:chart>
    <c:autoTitleDeleted val="1"/>
    <c:pivotFmts>
      <c:pivotFmt>
        <c:idx val="0"/>
        <c:spPr>
          <a:solidFill>
            <a:srgbClr val="FFC000"/>
          </a:solidFill>
          <a:ln>
            <a:noFill/>
          </a:ln>
          <a:effectLst>
            <a:outerShdw blurRad="76200" dir="18900000" sy="23000" kx="-1200000" algn="bl" rotWithShape="0">
              <a:prstClr val="black">
                <a:alpha val="20000"/>
              </a:prstClr>
            </a:outerShdw>
          </a:effectLst>
        </c:spPr>
        <c:marker>
          <c:symbol val="circle"/>
          <c:size val="6"/>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a:outerShdw blurRad="76200" dir="18900000" sy="23000" kx="-1200000" algn="bl" rotWithShape="0">
              <a:prstClr val="black">
                <a:alpha val="20000"/>
              </a:prstClr>
            </a:outerShdw>
          </a:effectLst>
        </c:spPr>
      </c:pivotFmt>
      <c:pivotFmt>
        <c:idx val="2"/>
        <c:spPr>
          <a:solidFill>
            <a:schemeClr val="accent2">
              <a:lumMod val="60000"/>
              <a:lumOff val="40000"/>
            </a:schemeClr>
          </a:solidFill>
          <a:ln>
            <a:noFill/>
          </a:ln>
          <a:effectLst>
            <a:outerShdw blurRad="76200" dir="18900000" sy="23000" kx="-1200000" algn="bl" rotWithShape="0">
              <a:prstClr val="black">
                <a:alpha val="20000"/>
              </a:prstClr>
            </a:outerShdw>
          </a:effectLst>
        </c:spPr>
      </c:pivotFmt>
      <c:pivotFmt>
        <c:idx val="3"/>
        <c:spPr>
          <a:solidFill>
            <a:schemeClr val="accent2"/>
          </a:solidFill>
          <a:ln>
            <a:noFill/>
          </a:ln>
          <a:effectLst>
            <a:outerShdw blurRad="76200" dir="18900000" sy="23000" kx="-1200000" algn="bl" rotWithShape="0">
              <a:prstClr val="black">
                <a:alpha val="20000"/>
              </a:prstClr>
            </a:outerShdw>
          </a:effectLst>
        </c:spPr>
      </c:pivotFmt>
      <c:pivotFmt>
        <c:idx val="4"/>
        <c:spPr>
          <a:solidFill>
            <a:srgbClr val="FF0000"/>
          </a:solidFill>
          <a:ln>
            <a:noFill/>
          </a:ln>
          <a:effectLst>
            <a:outerShdw blurRad="76200" dir="18900000" sy="23000" kx="-1200000" algn="bl" rotWithShape="0">
              <a:prstClr val="black">
                <a:alpha val="20000"/>
              </a:prstClr>
            </a:outerShdw>
          </a:effectLst>
        </c:spPr>
      </c:pivotFmt>
      <c:pivotFmt>
        <c:idx val="5"/>
        <c:spPr>
          <a:solidFill>
            <a:srgbClr val="FF0000"/>
          </a:solidFill>
          <a:ln>
            <a:noFill/>
          </a:ln>
          <a:effectLst>
            <a:outerShdw blurRad="76200" dir="18900000" sy="23000" kx="-1200000" algn="bl" rotWithShape="0">
              <a:prstClr val="black">
                <a:alpha val="20000"/>
              </a:prstClr>
            </a:outerShdw>
          </a:effectLst>
        </c:spPr>
      </c:pivotFmt>
      <c:pivotFmt>
        <c:idx val="6"/>
        <c:spPr>
          <a:solidFill>
            <a:srgbClr val="FFC000"/>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a:noFill/>
          </a:ln>
          <a:effectLst>
            <a:outerShdw blurRad="76200" dir="18900000" sy="23000" kx="-1200000" algn="bl" rotWithShape="0">
              <a:prstClr val="black">
                <a:alpha val="20000"/>
              </a:prstClr>
            </a:outerShdw>
          </a:effectLst>
        </c:spPr>
      </c:pivotFmt>
      <c:pivotFmt>
        <c:idx val="8"/>
        <c:spPr>
          <a:solidFill>
            <a:schemeClr val="accent2">
              <a:lumMod val="60000"/>
              <a:lumOff val="40000"/>
            </a:schemeClr>
          </a:solidFill>
          <a:ln>
            <a:noFill/>
          </a:ln>
          <a:effectLst>
            <a:outerShdw blurRad="76200" dir="18900000" sy="23000" kx="-1200000" algn="bl" rotWithShape="0">
              <a:prstClr val="black">
                <a:alpha val="20000"/>
              </a:prstClr>
            </a:outerShdw>
          </a:effectLst>
        </c:spPr>
      </c:pivotFmt>
      <c:pivotFmt>
        <c:idx val="9"/>
        <c:spPr>
          <a:solidFill>
            <a:schemeClr val="accent2"/>
          </a:solidFill>
          <a:ln>
            <a:noFill/>
          </a:ln>
          <a:effectLst>
            <a:outerShdw blurRad="76200" dir="18900000" sy="23000" kx="-1200000" algn="bl" rotWithShape="0">
              <a:prstClr val="black">
                <a:alpha val="20000"/>
              </a:prstClr>
            </a:outerShdw>
          </a:effectLst>
        </c:spPr>
      </c:pivotFmt>
      <c:pivotFmt>
        <c:idx val="10"/>
        <c:spPr>
          <a:solidFill>
            <a:srgbClr val="FF0000"/>
          </a:solidFill>
          <a:ln>
            <a:noFill/>
          </a:ln>
          <a:effectLst>
            <a:outerShdw blurRad="76200" dir="18900000" sy="23000" kx="-1200000" algn="bl" rotWithShape="0">
              <a:prstClr val="black">
                <a:alpha val="20000"/>
              </a:prstClr>
            </a:outerShdw>
          </a:effectLst>
        </c:spPr>
      </c:pivotFmt>
      <c:pivotFmt>
        <c:idx val="11"/>
        <c:spPr>
          <a:solidFill>
            <a:srgbClr val="FF0000"/>
          </a:solidFill>
          <a:ln>
            <a:noFill/>
          </a:ln>
          <a:effectLst>
            <a:outerShdw blurRad="76200" dir="18900000" sy="23000" kx="-1200000" algn="bl" rotWithShape="0">
              <a:prstClr val="black">
                <a:alpha val="20000"/>
              </a:prstClr>
            </a:outerShdw>
          </a:effectLst>
        </c:spPr>
      </c:pivotFmt>
      <c:pivotFmt>
        <c:idx val="12"/>
        <c:spPr>
          <a:solidFill>
            <a:srgbClr val="FFC000"/>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FFFF00"/>
          </a:solidFill>
          <a:ln>
            <a:noFill/>
          </a:ln>
          <a:effectLst>
            <a:outerShdw blurRad="76200" dir="18900000" sy="23000" kx="-1200000" algn="bl" rotWithShape="0">
              <a:prstClr val="black">
                <a:alpha val="20000"/>
              </a:prstClr>
            </a:outerShdw>
          </a:effectLst>
        </c:spPr>
      </c:pivotFmt>
      <c:pivotFmt>
        <c:idx val="14"/>
        <c:spPr>
          <a:solidFill>
            <a:schemeClr val="accent2">
              <a:lumMod val="60000"/>
              <a:lumOff val="40000"/>
            </a:schemeClr>
          </a:solidFill>
          <a:ln>
            <a:noFill/>
          </a:ln>
          <a:effectLst>
            <a:outerShdw blurRad="76200" dir="18900000" sy="23000" kx="-1200000" algn="bl" rotWithShape="0">
              <a:prstClr val="black">
                <a:alpha val="20000"/>
              </a:prstClr>
            </a:outerShdw>
          </a:effectLst>
        </c:spPr>
      </c:pivotFmt>
      <c:pivotFmt>
        <c:idx val="15"/>
        <c:spPr>
          <a:solidFill>
            <a:schemeClr val="accent2"/>
          </a:solidFill>
          <a:ln>
            <a:noFill/>
          </a:ln>
          <a:effectLst>
            <a:outerShdw blurRad="76200" dir="18900000" sy="23000" kx="-1200000" algn="bl" rotWithShape="0">
              <a:prstClr val="black">
                <a:alpha val="20000"/>
              </a:prstClr>
            </a:outerShdw>
          </a:effectLst>
        </c:spPr>
      </c:pivotFmt>
      <c:pivotFmt>
        <c:idx val="16"/>
        <c:spPr>
          <a:solidFill>
            <a:srgbClr val="FF0000"/>
          </a:solidFill>
          <a:ln>
            <a:noFill/>
          </a:ln>
          <a:effectLst>
            <a:outerShdw blurRad="76200" dir="18900000" sy="23000" kx="-1200000" algn="bl" rotWithShape="0">
              <a:prstClr val="black">
                <a:alpha val="20000"/>
              </a:prstClr>
            </a:outerShdw>
          </a:effectLst>
        </c:spPr>
      </c:pivotFmt>
      <c:pivotFmt>
        <c:idx val="17"/>
        <c:spPr>
          <a:solidFill>
            <a:srgbClr val="FF0000"/>
          </a:solidFill>
          <a:ln>
            <a:noFill/>
          </a:ln>
          <a:effectLst>
            <a:outerShdw blurRad="76200" dir="18900000" sy="23000" kx="-1200000" algn="bl" rotWithShape="0">
              <a:prstClr val="black">
                <a:alpha val="20000"/>
              </a:prstClr>
            </a:outerShdw>
          </a:effectLst>
        </c:spPr>
      </c:pivotFmt>
    </c:pivotFmts>
    <c:plotArea>
      <c:layout/>
      <c:barChart>
        <c:barDir val="col"/>
        <c:grouping val="clustered"/>
        <c:varyColors val="0"/>
        <c:ser>
          <c:idx val="0"/>
          <c:order val="0"/>
          <c:tx>
            <c:strRef>
              <c:f>'Number of sales over 6 months'!$B$3</c:f>
              <c:strCache>
                <c:ptCount val="1"/>
                <c:pt idx="0">
                  <c:v>Total</c:v>
                </c:pt>
              </c:strCache>
            </c:strRef>
          </c:tx>
          <c:spPr>
            <a:solidFill>
              <a:srgbClr val="FFC000"/>
            </a:solidFill>
            <a:ln>
              <a:noFill/>
            </a:ln>
            <a:effectLst>
              <a:outerShdw blurRad="76200" dir="18900000" sy="23000" kx="-1200000" algn="bl" rotWithShape="0">
                <a:prstClr val="black">
                  <a:alpha val="20000"/>
                </a:prstClr>
              </a:outerShdw>
            </a:effectLst>
          </c:spPr>
          <c:invertIfNegative val="0"/>
          <c:dPt>
            <c:idx val="1"/>
            <c:invertIfNegative val="0"/>
            <c:bubble3D val="0"/>
            <c:spPr>
              <a:solidFill>
                <a:srgbClr val="FFFF00"/>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1-A6DA-4E50-B03C-E58644236D21}"/>
              </c:ext>
            </c:extLst>
          </c:dPt>
          <c:dPt>
            <c:idx val="3"/>
            <c:invertIfNegative val="0"/>
            <c:bubble3D val="0"/>
            <c:spPr>
              <a:solidFill>
                <a:schemeClr val="accent2">
                  <a:lumMod val="60000"/>
                  <a:lumOff val="40000"/>
                </a:schemeClr>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3-A6DA-4E50-B03C-E58644236D21}"/>
              </c:ext>
            </c:extLst>
          </c:dPt>
          <c:dPt>
            <c:idx val="4"/>
            <c:invertIfNegative val="0"/>
            <c:bubble3D val="0"/>
            <c:spPr>
              <a:solidFill>
                <a:schemeClr val="accent2"/>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5-A6DA-4E50-B03C-E58644236D21}"/>
              </c:ext>
            </c:extLst>
          </c:dPt>
          <c:dPt>
            <c:idx val="5"/>
            <c:invertIfNegative val="0"/>
            <c:bubble3D val="0"/>
            <c:spPr>
              <a:solidFill>
                <a:srgbClr val="FF0000"/>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7-A6DA-4E50-B03C-E58644236D21}"/>
              </c:ext>
            </c:extLst>
          </c:dPt>
          <c:dPt>
            <c:idx val="6"/>
            <c:invertIfNegative val="0"/>
            <c:bubble3D val="0"/>
            <c:spPr>
              <a:solidFill>
                <a:srgbClr val="C00000"/>
              </a:soli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9-A6DA-4E50-B03C-E58644236D21}"/>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'Number of sales over 6 months'!$A$4:$A$11</c:f>
              <c:strCache>
                <c:ptCount val="7"/>
                <c:pt idx="0">
                  <c:v>&lt;2023/01/01</c:v>
                </c:pt>
                <c:pt idx="1">
                  <c:v>Jan</c:v>
                </c:pt>
                <c:pt idx="2">
                  <c:v>Feb</c:v>
                </c:pt>
                <c:pt idx="3">
                  <c:v>Mar</c:v>
                </c:pt>
                <c:pt idx="4">
                  <c:v>Apr</c:v>
                </c:pt>
                <c:pt idx="5">
                  <c:v>May</c:v>
                </c:pt>
                <c:pt idx="6">
                  <c:v>Jun</c:v>
                </c:pt>
              </c:strCache>
            </c:strRef>
          </c:cat>
          <c:val>
            <c:numRef>
              <c:f>'Number of sales over 6 months'!$B$4:$B$11</c:f>
              <c:numCache>
                <c:formatCode>General</c:formatCode>
                <c:ptCount val="7"/>
                <c:pt idx="1">
                  <c:v>17314</c:v>
                </c:pt>
                <c:pt idx="2">
                  <c:v>16359</c:v>
                </c:pt>
                <c:pt idx="3">
                  <c:v>21229</c:v>
                </c:pt>
                <c:pt idx="4">
                  <c:v>25335</c:v>
                </c:pt>
                <c:pt idx="5">
                  <c:v>33527</c:v>
                </c:pt>
                <c:pt idx="6">
                  <c:v>35352</c:v>
                </c:pt>
              </c:numCache>
            </c:numRef>
          </c:val>
          <c:extLst>
            <c:ext xmlns:c16="http://schemas.microsoft.com/office/drawing/2014/chart" uri="{C3380CC4-5D6E-409C-BE32-E72D297353CC}">
              <c16:uniqueId val="{0000000A-A6DA-4E50-B03C-E58644236D21}"/>
            </c:ext>
          </c:extLst>
        </c:ser>
        <c:dLbls>
          <c:dLblPos val="inEnd"/>
          <c:showLegendKey val="0"/>
          <c:showVal val="1"/>
          <c:showCatName val="0"/>
          <c:showSerName val="0"/>
          <c:showPercent val="0"/>
          <c:showBubbleSize val="0"/>
        </c:dLbls>
        <c:gapWidth val="41"/>
        <c:axId val="1760919167"/>
        <c:axId val="1760920127"/>
      </c:barChart>
      <c:catAx>
        <c:axId val="176091916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1760920127"/>
        <c:crosses val="autoZero"/>
        <c:auto val="1"/>
        <c:lblAlgn val="ctr"/>
        <c:lblOffset val="100"/>
        <c:noMultiLvlLbl val="0"/>
      </c:catAx>
      <c:valAx>
        <c:axId val="1760920127"/>
        <c:scaling>
          <c:orientation val="minMax"/>
        </c:scaling>
        <c:delete val="1"/>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1760919167"/>
        <c:crosses val="autoZero"/>
        <c:crossBetween val="between"/>
      </c:valAx>
      <c:dTable>
        <c:showHorzBorder val="1"/>
        <c:showVertBorder val="1"/>
        <c:showOutline val="1"/>
        <c:showKeys val="1"/>
        <c:spPr>
          <a:noFill/>
          <a:ln w="9525">
            <a:solidFill>
              <a:schemeClr val="dk1">
                <a:lumMod val="15000"/>
                <a:lumOff val="85000"/>
              </a:schemeClr>
            </a:solidFill>
          </a:ln>
          <a:effectLst/>
        </c:spPr>
        <c:txPr>
          <a:bodyPr rot="0" spcFirstLastPara="1" vertOverflow="ellipsis" vert="horz" wrap="square" anchor="ctr" anchorCtr="1"/>
          <a:lstStyle/>
          <a:p>
            <a:pPr rtl="0">
              <a:defRPr sz="1100" b="1" i="0" u="none" strike="noStrike" kern="1200" baseline="0">
                <a:solidFill>
                  <a:schemeClr val="accent3">
                    <a:lumMod val="7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V2.xlsx]Revenue per day of the week for!PivotTable2</c:name>
    <c:fmtId val="19"/>
  </c:pivotSource>
  <c:chart>
    <c:autoTitleDeleted val="1"/>
    <c:pivotFmts>
      <c:pivotFmt>
        <c:idx val="0"/>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marker>
          <c:symbol val="circle"/>
          <c:size val="4"/>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accent6">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6">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6">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'Revenue per day of the week for'!$B$3</c:f>
              <c:strCache>
                <c:ptCount val="1"/>
                <c:pt idx="0">
                  <c:v>Total</c:v>
                </c:pt>
              </c:strCache>
            </c:strRef>
          </c:tx>
          <c:spPr>
            <a:solidFill>
              <a:schemeClr val="accent5"/>
            </a:solidFill>
            <a:ln w="9525" cap="flat" cmpd="sng" algn="ctr">
              <a:solidFill>
                <a:schemeClr val="dk1">
                  <a:tint val="88000"/>
                  <a:shade val="95000"/>
                </a:schemeClr>
              </a:solidFill>
              <a:round/>
            </a:ln>
            <a:effectLst/>
          </c:spPr>
          <c:invertIfNegative val="0"/>
          <c:cat>
            <c:multiLvlStrRef>
              <c:f>'Revenue per day of the week for'!$A$4:$A$30</c:f>
              <c:multiLvlStrCache>
                <c:ptCount val="22"/>
                <c:lvl>
                  <c:pt idx="0">
                    <c:v>Sun</c:v>
                  </c:pt>
                  <c:pt idx="1">
                    <c:v>Mon</c:v>
                  </c:pt>
                  <c:pt idx="2">
                    <c:v>Tue</c:v>
                  </c:pt>
                  <c:pt idx="3">
                    <c:v>Wed</c:v>
                  </c:pt>
                  <c:pt idx="4">
                    <c:v>Thu</c:v>
                  </c:pt>
                  <c:pt idx="5">
                    <c:v>Fri</c:v>
                  </c:pt>
                  <c:pt idx="6">
                    <c:v>Sat</c:v>
                  </c:pt>
                  <c:pt idx="7">
                    <c:v>Sun</c:v>
                  </c:pt>
                  <c:pt idx="8">
                    <c:v>Mon</c:v>
                  </c:pt>
                  <c:pt idx="9">
                    <c:v>Tue</c:v>
                  </c:pt>
                  <c:pt idx="10">
                    <c:v>Wed</c:v>
                  </c:pt>
                  <c:pt idx="11">
                    <c:v>Thu</c:v>
                  </c:pt>
                  <c:pt idx="12">
                    <c:v>Fri</c:v>
                  </c:pt>
                  <c:pt idx="13">
                    <c:v>Sat</c:v>
                  </c:pt>
                  <c:pt idx="14">
                    <c:v>Sun</c:v>
                  </c:pt>
                  <c:pt idx="15">
                    <c:v>Mon</c:v>
                  </c:pt>
                  <c:pt idx="16">
                    <c:v>Tue</c:v>
                  </c:pt>
                  <c:pt idx="17">
                    <c:v>Wed</c:v>
                  </c:pt>
                  <c:pt idx="18">
                    <c:v>Thu</c:v>
                  </c:pt>
                  <c:pt idx="19">
                    <c:v>Fri</c:v>
                  </c:pt>
                  <c:pt idx="20">
                    <c:v>Sat</c:v>
                  </c:pt>
                  <c:pt idx="21">
                    <c:v>(blank)</c:v>
                  </c:pt>
                </c:lvl>
                <c:lvl>
                  <c:pt idx="0">
                    <c:v>Astoria</c:v>
                  </c:pt>
                  <c:pt idx="7">
                    <c:v>Hell's Kitchen</c:v>
                  </c:pt>
                  <c:pt idx="14">
                    <c:v>Lower Manhattan</c:v>
                  </c:pt>
                  <c:pt idx="21">
                    <c:v>(blank)</c:v>
                  </c:pt>
                </c:lvl>
              </c:multiLvlStrCache>
            </c:multiLvlStrRef>
          </c:cat>
          <c:val>
            <c:numRef>
              <c:f>'Revenue per day of the week for'!$B$4:$B$30</c:f>
              <c:numCache>
                <c:formatCode>General</c:formatCode>
                <c:ptCount val="22"/>
                <c:pt idx="0">
                  <c:v>32795.180000000051</c:v>
                </c:pt>
                <c:pt idx="1">
                  <c:v>33928.290000000037</c:v>
                </c:pt>
                <c:pt idx="2">
                  <c:v>31816.760000000064</c:v>
                </c:pt>
                <c:pt idx="3">
                  <c:v>34244.630000000041</c:v>
                </c:pt>
                <c:pt idx="4">
                  <c:v>34140.37000000001</c:v>
                </c:pt>
                <c:pt idx="5">
                  <c:v>33472.750000000029</c:v>
                </c:pt>
                <c:pt idx="6">
                  <c:v>31845.93000000004</c:v>
                </c:pt>
                <c:pt idx="7">
                  <c:v>33685.630000000005</c:v>
                </c:pt>
                <c:pt idx="8">
                  <c:v>33389.509999999915</c:v>
                </c:pt>
                <c:pt idx="9">
                  <c:v>34846.469999999943</c:v>
                </c:pt>
                <c:pt idx="10">
                  <c:v>33779.090000000004</c:v>
                </c:pt>
                <c:pt idx="11">
                  <c:v>33468.059999999983</c:v>
                </c:pt>
                <c:pt idx="12">
                  <c:v>34743.179999999935</c:v>
                </c:pt>
                <c:pt idx="13">
                  <c:v>32599.230000000003</c:v>
                </c:pt>
                <c:pt idx="14">
                  <c:v>31849.499999999967</c:v>
                </c:pt>
                <c:pt idx="15">
                  <c:v>34359.47999999996</c:v>
                </c:pt>
                <c:pt idx="16">
                  <c:v>32792.70999999997</c:v>
                </c:pt>
                <c:pt idx="17">
                  <c:v>32289.820000000022</c:v>
                </c:pt>
                <c:pt idx="18">
                  <c:v>33159.350000000028</c:v>
                </c:pt>
                <c:pt idx="19">
                  <c:v>33157.069999999978</c:v>
                </c:pt>
                <c:pt idx="20">
                  <c:v>32449.320000000011</c:v>
                </c:pt>
              </c:numCache>
            </c:numRef>
          </c:val>
          <c:extLst>
            <c:ext xmlns:c16="http://schemas.microsoft.com/office/drawing/2014/chart" uri="{C3380CC4-5D6E-409C-BE32-E72D297353CC}">
              <c16:uniqueId val="{00000000-FE50-43EB-A500-8DCD49F57564}"/>
            </c:ext>
          </c:extLst>
        </c:ser>
        <c:dLbls>
          <c:showLegendKey val="0"/>
          <c:showVal val="0"/>
          <c:showCatName val="0"/>
          <c:showSerName val="0"/>
          <c:showPercent val="0"/>
          <c:showBubbleSize val="0"/>
        </c:dLbls>
        <c:gapWidth val="100"/>
        <c:overlap val="-24"/>
        <c:axId val="1760910527"/>
        <c:axId val="1760917247"/>
      </c:barChart>
      <c:catAx>
        <c:axId val="17609105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1760917247"/>
        <c:crosses val="autoZero"/>
        <c:auto val="1"/>
        <c:lblAlgn val="ctr"/>
        <c:lblOffset val="100"/>
        <c:noMultiLvlLbl val="0"/>
      </c:catAx>
      <c:valAx>
        <c:axId val="17609172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17609105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accent6">
              <a:lumMod val="75000"/>
            </a:schemeClr>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V2.xlsx]Number of sales weekdayweekend!PivotTable4</c:name>
    <c:fmtId val="10"/>
  </c:pivotSource>
  <c:chart>
    <c:autoTitleDeleted val="0"/>
    <c:pivotFmts>
      <c:pivotFmt>
        <c:idx val="0"/>
        <c:spPr>
          <a:solidFill>
            <a:schemeClr val="tx1">
              <a:lumMod val="65000"/>
              <a:lumOff val="3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tx1">
              <a:lumMod val="65000"/>
              <a:lumOff val="35000"/>
            </a:schemeClr>
          </a:solidFill>
          <a:ln>
            <a:noFill/>
          </a:ln>
          <a:effectLst/>
          <a:sp3d/>
        </c:spPr>
      </c:pivotFmt>
      <c:pivotFmt>
        <c:idx val="3"/>
        <c:spPr>
          <a:solidFill>
            <a:schemeClr val="tx1">
              <a:lumMod val="65000"/>
              <a:lumOff val="3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FFFF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tx1">
              <a:lumMod val="65000"/>
              <a:lumOff val="35000"/>
            </a:schemeClr>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FFFF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'Number of sales weekdayweekend'!$B$3:$B$4</c:f>
              <c:strCache>
                <c:ptCount val="1"/>
                <c:pt idx="0">
                  <c:v>Weekday</c:v>
                </c:pt>
              </c:strCache>
            </c:strRef>
          </c:tx>
          <c:spPr>
            <a:solidFill>
              <a:schemeClr val="tx1">
                <a:lumMod val="65000"/>
                <a:lumOff val="35000"/>
              </a:schemeClr>
            </a:solidFill>
            <a:ln>
              <a:noFill/>
            </a:ln>
            <a:effectLst/>
            <a:sp3d/>
          </c:spPr>
          <c:invertIfNegative val="0"/>
          <c:cat>
            <c:strRef>
              <c:f>'Number of sales weekdayweekend'!$A$5:$A$8</c:f>
              <c:strCache>
                <c:ptCount val="3"/>
                <c:pt idx="0">
                  <c:v>Astoria</c:v>
                </c:pt>
                <c:pt idx="1">
                  <c:v>Hell's Kitchen</c:v>
                </c:pt>
                <c:pt idx="2">
                  <c:v>Lower Manhattan</c:v>
                </c:pt>
              </c:strCache>
            </c:strRef>
          </c:cat>
          <c:val>
            <c:numRef>
              <c:f>'Number of sales weekdayweekend'!$B$5:$B$8</c:f>
              <c:numCache>
                <c:formatCode>General</c:formatCode>
                <c:ptCount val="3"/>
                <c:pt idx="0">
                  <c:v>36584</c:v>
                </c:pt>
                <c:pt idx="1">
                  <c:v>36545</c:v>
                </c:pt>
                <c:pt idx="2">
                  <c:v>34381</c:v>
                </c:pt>
              </c:numCache>
            </c:numRef>
          </c:val>
          <c:extLst>
            <c:ext xmlns:c16="http://schemas.microsoft.com/office/drawing/2014/chart" uri="{C3380CC4-5D6E-409C-BE32-E72D297353CC}">
              <c16:uniqueId val="{00000000-509F-4841-8A00-1C77DEF19C09}"/>
            </c:ext>
          </c:extLst>
        </c:ser>
        <c:ser>
          <c:idx val="1"/>
          <c:order val="1"/>
          <c:tx>
            <c:strRef>
              <c:f>'Number of sales weekdayweekend'!$C$3:$C$4</c:f>
              <c:strCache>
                <c:ptCount val="1"/>
                <c:pt idx="0">
                  <c:v>Weekend</c:v>
                </c:pt>
              </c:strCache>
            </c:strRef>
          </c:tx>
          <c:spPr>
            <a:solidFill>
              <a:srgbClr val="FFFF00"/>
            </a:solidFill>
            <a:ln>
              <a:noFill/>
            </a:ln>
            <a:effectLst/>
            <a:sp3d/>
          </c:spPr>
          <c:invertIfNegative val="0"/>
          <c:cat>
            <c:strRef>
              <c:f>'Number of sales weekdayweekend'!$A$5:$A$8</c:f>
              <c:strCache>
                <c:ptCount val="3"/>
                <c:pt idx="0">
                  <c:v>Astoria</c:v>
                </c:pt>
                <c:pt idx="1">
                  <c:v>Hell's Kitchen</c:v>
                </c:pt>
                <c:pt idx="2">
                  <c:v>Lower Manhattan</c:v>
                </c:pt>
              </c:strCache>
            </c:strRef>
          </c:cat>
          <c:val>
            <c:numRef>
              <c:f>'Number of sales weekdayweekend'!$C$5:$C$8</c:f>
              <c:numCache>
                <c:formatCode>General</c:formatCode>
                <c:ptCount val="3"/>
                <c:pt idx="0">
                  <c:v>14015</c:v>
                </c:pt>
                <c:pt idx="1">
                  <c:v>14190</c:v>
                </c:pt>
                <c:pt idx="2">
                  <c:v>13401</c:v>
                </c:pt>
              </c:numCache>
            </c:numRef>
          </c:val>
          <c:extLst>
            <c:ext xmlns:c16="http://schemas.microsoft.com/office/drawing/2014/chart" uri="{C3380CC4-5D6E-409C-BE32-E72D297353CC}">
              <c16:uniqueId val="{00000001-509F-4841-8A00-1C77DEF19C09}"/>
            </c:ext>
          </c:extLst>
        </c:ser>
        <c:dLbls>
          <c:showLegendKey val="0"/>
          <c:showVal val="0"/>
          <c:showCatName val="0"/>
          <c:showSerName val="0"/>
          <c:showPercent val="0"/>
          <c:showBubbleSize val="0"/>
        </c:dLbls>
        <c:gapWidth val="150"/>
        <c:shape val="box"/>
        <c:axId val="65830095"/>
        <c:axId val="65834895"/>
        <c:axId val="0"/>
      </c:bar3DChart>
      <c:catAx>
        <c:axId val="658300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34895"/>
        <c:crosses val="autoZero"/>
        <c:auto val="1"/>
        <c:lblAlgn val="ctr"/>
        <c:lblOffset val="100"/>
        <c:noMultiLvlLbl val="0"/>
      </c:catAx>
      <c:valAx>
        <c:axId val="658348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300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V2.xlsx]Revenue per time of day!PivotTable3</c:name>
    <c:fmtId val="22"/>
  </c:pivotSource>
  <c:chart>
    <c:autoTitleDeleted val="0"/>
    <c:pivotFmts>
      <c:pivotFmt>
        <c:idx val="0"/>
        <c:spPr>
          <a:solidFill>
            <a:schemeClr val="accent1"/>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'Revenue per time of day'!$B$3:$B$4</c:f>
              <c:strCache>
                <c:ptCount val="1"/>
                <c:pt idx="0">
                  <c:v>Afternoon</c:v>
                </c:pt>
              </c:strCache>
            </c:strRef>
          </c:tx>
          <c:spPr>
            <a:solidFill>
              <a:schemeClr val="tx2">
                <a:lumMod val="75000"/>
                <a:lumOff val="25000"/>
              </a:schemeClr>
            </a:solidFill>
            <a:ln>
              <a:noFill/>
            </a:ln>
            <a:effectLst/>
          </c:spPr>
          <c:invertIfNegative val="0"/>
          <c:dLbls>
            <c:delete val="1"/>
          </c:dLbls>
          <c:cat>
            <c:strRef>
              <c:f>'Revenue per time of day'!$A$5:$A$8</c:f>
              <c:strCache>
                <c:ptCount val="3"/>
                <c:pt idx="0">
                  <c:v>Astoria</c:v>
                </c:pt>
                <c:pt idx="1">
                  <c:v>Hell's Kitchen</c:v>
                </c:pt>
                <c:pt idx="2">
                  <c:v>Lower Manhattan</c:v>
                </c:pt>
              </c:strCache>
            </c:strRef>
          </c:cat>
          <c:val>
            <c:numRef>
              <c:f>'Revenue per time of day'!$B$5:$B$8</c:f>
              <c:numCache>
                <c:formatCode>General</c:formatCode>
                <c:ptCount val="3"/>
                <c:pt idx="0">
                  <c:v>78322.889999999534</c:v>
                </c:pt>
                <c:pt idx="1">
                  <c:v>58761.779999999482</c:v>
                </c:pt>
                <c:pt idx="2">
                  <c:v>66892.409999999494</c:v>
                </c:pt>
              </c:numCache>
            </c:numRef>
          </c:val>
          <c:extLst>
            <c:ext xmlns:c16="http://schemas.microsoft.com/office/drawing/2014/chart" uri="{C3380CC4-5D6E-409C-BE32-E72D297353CC}">
              <c16:uniqueId val="{00000000-DD8D-4A0C-B0D4-3F1AC2F95869}"/>
            </c:ext>
          </c:extLst>
        </c:ser>
        <c:ser>
          <c:idx val="1"/>
          <c:order val="1"/>
          <c:tx>
            <c:strRef>
              <c:f>'Revenue per time of day'!$C$3:$C$4</c:f>
              <c:strCache>
                <c:ptCount val="1"/>
                <c:pt idx="0">
                  <c:v>Evening</c:v>
                </c:pt>
              </c:strCache>
            </c:strRef>
          </c:tx>
          <c:spPr>
            <a:solidFill>
              <a:schemeClr val="accent2"/>
            </a:solidFill>
            <a:ln>
              <a:noFill/>
            </a:ln>
            <a:effectLst/>
          </c:spPr>
          <c:invertIfNegative val="0"/>
          <c:dLbls>
            <c:delete val="1"/>
          </c:dLbls>
          <c:cat>
            <c:strRef>
              <c:f>'Revenue per time of day'!$A$5:$A$8</c:f>
              <c:strCache>
                <c:ptCount val="3"/>
                <c:pt idx="0">
                  <c:v>Astoria</c:v>
                </c:pt>
                <c:pt idx="1">
                  <c:v>Hell's Kitchen</c:v>
                </c:pt>
                <c:pt idx="2">
                  <c:v>Lower Manhattan</c:v>
                </c:pt>
              </c:strCache>
            </c:strRef>
          </c:cat>
          <c:val>
            <c:numRef>
              <c:f>'Revenue per time of day'!$C$5:$C$8</c:f>
              <c:numCache>
                <c:formatCode>General</c:formatCode>
                <c:ptCount val="3"/>
                <c:pt idx="0">
                  <c:v>48734.249999999833</c:v>
                </c:pt>
                <c:pt idx="1">
                  <c:v>38055.439999999915</c:v>
                </c:pt>
                <c:pt idx="2">
                  <c:v>19013.140000000054</c:v>
                </c:pt>
              </c:numCache>
            </c:numRef>
          </c:val>
          <c:extLst>
            <c:ext xmlns:c16="http://schemas.microsoft.com/office/drawing/2014/chart" uri="{C3380CC4-5D6E-409C-BE32-E72D297353CC}">
              <c16:uniqueId val="{00000001-DD8D-4A0C-B0D4-3F1AC2F95869}"/>
            </c:ext>
          </c:extLst>
        </c:ser>
        <c:ser>
          <c:idx val="2"/>
          <c:order val="2"/>
          <c:tx>
            <c:strRef>
              <c:f>'Revenue per time of day'!$D$3:$D$4</c:f>
              <c:strCache>
                <c:ptCount val="1"/>
                <c:pt idx="0">
                  <c:v>Morning</c:v>
                </c:pt>
              </c:strCache>
            </c:strRef>
          </c:tx>
          <c:spPr>
            <a:solidFill>
              <a:schemeClr val="accent6">
                <a:lumMod val="75000"/>
              </a:schemeClr>
            </a:solidFill>
            <a:ln>
              <a:noFill/>
            </a:ln>
            <a:effectLst/>
          </c:spPr>
          <c:invertIfNegative val="0"/>
          <c:dLbls>
            <c:delete val="1"/>
          </c:dLbls>
          <c:cat>
            <c:strRef>
              <c:f>'Revenue per time of day'!$A$5:$A$8</c:f>
              <c:strCache>
                <c:ptCount val="3"/>
                <c:pt idx="0">
                  <c:v>Astoria</c:v>
                </c:pt>
                <c:pt idx="1">
                  <c:v>Hell's Kitchen</c:v>
                </c:pt>
                <c:pt idx="2">
                  <c:v>Lower Manhattan</c:v>
                </c:pt>
              </c:strCache>
            </c:strRef>
          </c:cat>
          <c:val>
            <c:numRef>
              <c:f>'Revenue per time of day'!$D$5:$D$8</c:f>
              <c:numCache>
                <c:formatCode>General</c:formatCode>
                <c:ptCount val="3"/>
                <c:pt idx="0">
                  <c:v>104762.61999999968</c:v>
                </c:pt>
                <c:pt idx="1">
                  <c:v>139317.45000000088</c:v>
                </c:pt>
                <c:pt idx="2">
                  <c:v>143687.7500000007</c:v>
                </c:pt>
              </c:numCache>
            </c:numRef>
          </c:val>
          <c:extLst>
            <c:ext xmlns:c16="http://schemas.microsoft.com/office/drawing/2014/chart" uri="{C3380CC4-5D6E-409C-BE32-E72D297353CC}">
              <c16:uniqueId val="{00000002-DD8D-4A0C-B0D4-3F1AC2F95869}"/>
            </c:ext>
          </c:extLst>
        </c:ser>
        <c:dLbls>
          <c:dLblPos val="inEnd"/>
          <c:showLegendKey val="0"/>
          <c:showVal val="1"/>
          <c:showCatName val="0"/>
          <c:showSerName val="0"/>
          <c:showPercent val="0"/>
          <c:showBubbleSize val="0"/>
        </c:dLbls>
        <c:gapWidth val="219"/>
        <c:overlap val="-27"/>
        <c:axId val="65792655"/>
        <c:axId val="65808975"/>
      </c:barChart>
      <c:catAx>
        <c:axId val="65792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08975"/>
        <c:crosses val="autoZero"/>
        <c:auto val="1"/>
        <c:lblAlgn val="ctr"/>
        <c:lblOffset val="100"/>
        <c:noMultiLvlLbl val="0"/>
      </c:catAx>
      <c:valAx>
        <c:axId val="65808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7926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[Data consisting of categorized data V2.xlsx]Revenue per season!PivotTable5</c:name>
    <c:fmtId val="12"/>
  </c:pivotSource>
  <c:chart>
    <c:autoTitleDeleted val="0"/>
    <c:pivotFmts>
      <c:pivotFmt>
        <c:idx val="0"/>
        <c:spPr>
          <a:solidFill>
            <a:srgbClr val="FFC000"/>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C00000"/>
          </a:solidFill>
          <a:ln>
            <a:noFill/>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'Revenue per season'!$B$3:$B$4</c:f>
              <c:strCache>
                <c:ptCount val="1"/>
                <c:pt idx="0">
                  <c:v>Autumn</c:v>
                </c:pt>
              </c:strCache>
            </c:strRef>
          </c:tx>
          <c:spPr>
            <a:solidFill>
              <a:srgbClr val="FFC000"/>
            </a:solidFill>
            <a:ln>
              <a:noFill/>
            </a:ln>
            <a:effectLst/>
          </c:spPr>
          <c:invertIfNegative val="0"/>
          <c:cat>
            <c:strRef>
              <c:f>'Revenue per season'!$A$5:$A$11</c:f>
              <c:strCache>
                <c:ptCount val="6"/>
                <c:pt idx="0">
                  <c:v>Jan</c:v>
                </c:pt>
                <c:pt idx="1">
                  <c:v>Feb</c:v>
                </c:pt>
                <c:pt idx="2">
                  <c:v>Mar</c:v>
                </c:pt>
                <c:pt idx="3">
                  <c:v>Apr</c:v>
                </c:pt>
                <c:pt idx="4">
                  <c:v>May</c:v>
                </c:pt>
                <c:pt idx="5">
                  <c:v>Jun</c:v>
                </c:pt>
              </c:strCache>
            </c:strRef>
          </c:cat>
          <c:val>
            <c:numRef>
              <c:f>'Revenue per season'!$B$5:$B$11</c:f>
              <c:numCache>
                <c:formatCode>General</c:formatCode>
                <c:ptCount val="6"/>
                <c:pt idx="2">
                  <c:v>98834.679999999818</c:v>
                </c:pt>
                <c:pt idx="3">
                  <c:v>118941.07999999991</c:v>
                </c:pt>
                <c:pt idx="4">
                  <c:v>156727.76000000135</c:v>
                </c:pt>
              </c:numCache>
            </c:numRef>
          </c:val>
          <c:extLst>
            <c:ext xmlns:c16="http://schemas.microsoft.com/office/drawing/2014/chart" uri="{C3380CC4-5D6E-409C-BE32-E72D297353CC}">
              <c16:uniqueId val="{00000000-517B-4B78-8739-61DF01F2EF13}"/>
            </c:ext>
          </c:extLst>
        </c:ser>
        <c:ser>
          <c:idx val="1"/>
          <c:order val="1"/>
          <c:tx>
            <c:strRef>
              <c:f>'Revenue per season'!$C$3:$C$4</c:f>
              <c:strCache>
                <c:ptCount val="1"/>
                <c:pt idx="0">
                  <c:v>Summer</c:v>
                </c:pt>
              </c:strCache>
            </c:strRef>
          </c:tx>
          <c:spPr>
            <a:solidFill>
              <a:srgbClr val="FFFF00"/>
            </a:solidFill>
            <a:ln>
              <a:noFill/>
            </a:ln>
            <a:effectLst/>
          </c:spPr>
          <c:invertIfNegative val="0"/>
          <c:cat>
            <c:strRef>
              <c:f>'Revenue per season'!$A$5:$A$11</c:f>
              <c:strCache>
                <c:ptCount val="6"/>
                <c:pt idx="0">
                  <c:v>Jan</c:v>
                </c:pt>
                <c:pt idx="1">
                  <c:v>Feb</c:v>
                </c:pt>
                <c:pt idx="2">
                  <c:v>Mar</c:v>
                </c:pt>
                <c:pt idx="3">
                  <c:v>Apr</c:v>
                </c:pt>
                <c:pt idx="4">
                  <c:v>May</c:v>
                </c:pt>
                <c:pt idx="5">
                  <c:v>Jun</c:v>
                </c:pt>
              </c:strCache>
            </c:strRef>
          </c:cat>
          <c:val>
            <c:numRef>
              <c:f>'Revenue per season'!$C$5:$C$11</c:f>
              <c:numCache>
                <c:formatCode>General</c:formatCode>
                <c:ptCount val="6"/>
                <c:pt idx="0">
                  <c:v>81677.739999999612</c:v>
                </c:pt>
                <c:pt idx="1">
                  <c:v>76145.189999999609</c:v>
                </c:pt>
              </c:numCache>
            </c:numRef>
          </c:val>
          <c:extLst>
            <c:ext xmlns:c16="http://schemas.microsoft.com/office/drawing/2014/chart" uri="{C3380CC4-5D6E-409C-BE32-E72D297353CC}">
              <c16:uniqueId val="{00000001-517B-4B78-8739-61DF01F2EF13}"/>
            </c:ext>
          </c:extLst>
        </c:ser>
        <c:ser>
          <c:idx val="2"/>
          <c:order val="2"/>
          <c:tx>
            <c:strRef>
              <c:f>'Revenue per season'!$D$3:$D$4</c:f>
              <c:strCache>
                <c:ptCount val="1"/>
                <c:pt idx="0">
                  <c:v>Winter</c:v>
                </c:pt>
              </c:strCache>
            </c:strRef>
          </c:tx>
          <c:spPr>
            <a:solidFill>
              <a:srgbClr val="C00000"/>
            </a:solidFill>
            <a:ln>
              <a:noFill/>
            </a:ln>
            <a:effectLst/>
          </c:spPr>
          <c:invertIfNegative val="0"/>
          <c:cat>
            <c:strRef>
              <c:f>'Revenue per season'!$A$5:$A$11</c:f>
              <c:strCache>
                <c:ptCount val="6"/>
                <c:pt idx="0">
                  <c:v>Jan</c:v>
                </c:pt>
                <c:pt idx="1">
                  <c:v>Feb</c:v>
                </c:pt>
                <c:pt idx="2">
                  <c:v>Mar</c:v>
                </c:pt>
                <c:pt idx="3">
                  <c:v>Apr</c:v>
                </c:pt>
                <c:pt idx="4">
                  <c:v>May</c:v>
                </c:pt>
                <c:pt idx="5">
                  <c:v>Jun</c:v>
                </c:pt>
              </c:strCache>
            </c:strRef>
          </c:cat>
          <c:val>
            <c:numRef>
              <c:f>'Revenue per season'!$D$5:$D$11</c:f>
              <c:numCache>
                <c:formatCode>General</c:formatCode>
                <c:ptCount val="6"/>
                <c:pt idx="5">
                  <c:v>166485.88000000161</c:v>
                </c:pt>
              </c:numCache>
            </c:numRef>
          </c:val>
          <c:extLst>
            <c:ext xmlns:c16="http://schemas.microsoft.com/office/drawing/2014/chart" uri="{C3380CC4-5D6E-409C-BE32-E72D297353CC}">
              <c16:uniqueId val="{00000002-517B-4B78-8739-61DF01F2EF13}"/>
            </c:ext>
          </c:extLst>
        </c:ser>
        <c:dLbls>
          <c:showLegendKey val="0"/>
          <c:showVal val="0"/>
          <c:showCatName val="0"/>
          <c:showSerName val="0"/>
          <c:showPercent val="0"/>
          <c:showBubbleSize val="0"/>
        </c:dLbls>
        <c:gapWidth val="219"/>
        <c:overlap val="100"/>
        <c:axId val="65826255"/>
        <c:axId val="65852655"/>
      </c:barChart>
      <c:catAx>
        <c:axId val="658262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52655"/>
        <c:crosses val="autoZero"/>
        <c:auto val="1"/>
        <c:lblAlgn val="ctr"/>
        <c:lblOffset val="100"/>
        <c:noMultiLvlLbl val="0"/>
      </c:catAx>
      <c:valAx>
        <c:axId val="658526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262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[Transaction qty per product category.xlsx]Sheet1!PivotTable6</c:name>
    <c:fmtId val="20"/>
  </c:pivotSource>
  <c:chart>
    <c:autoTitleDeleted val="1"/>
    <c:pivotFmts>
      <c:pivotFmt>
        <c:idx val="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s>
    <c:plotArea>
      <c:layout/>
      <c:pieChart>
        <c:varyColors val="1"/>
        <c:ser>
          <c:idx val="0"/>
          <c:order val="0"/>
          <c:tx>
            <c:strRef>
              <c:f>Sheet1!$B$3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BE8-4E00-A3A7-F612D43A737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BE8-4E00-A3A7-F612D43A737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BE8-4E00-A3A7-F612D43A737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BE8-4E00-A3A7-F612D43A737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BE8-4E00-A3A7-F612D43A737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BBE8-4E00-A3A7-F612D43A737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BBE8-4E00-A3A7-F612D43A7373}"/>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BBE8-4E00-A3A7-F612D43A7373}"/>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BBE8-4E00-A3A7-F612D43A7373}"/>
              </c:ext>
            </c:extLst>
          </c:dPt>
          <c:cat>
            <c:strRef>
              <c:f>Sheet1!$A$4:$A$13</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Sheet1!$B$4:$B$13</c:f>
              <c:numCache>
                <c:formatCode>General</c:formatCode>
                <c:ptCount val="9"/>
                <c:pt idx="0">
                  <c:v>23214</c:v>
                </c:pt>
                <c:pt idx="1">
                  <c:v>776</c:v>
                </c:pt>
                <c:pt idx="2">
                  <c:v>89250</c:v>
                </c:pt>
                <c:pt idx="3">
                  <c:v>1828</c:v>
                </c:pt>
                <c:pt idx="4">
                  <c:v>17457</c:v>
                </c:pt>
                <c:pt idx="5">
                  <c:v>10511</c:v>
                </c:pt>
                <c:pt idx="6">
                  <c:v>1210</c:v>
                </c:pt>
                <c:pt idx="7">
                  <c:v>487</c:v>
                </c:pt>
                <c:pt idx="8">
                  <c:v>69737</c:v>
                </c:pt>
              </c:numCache>
            </c:numRef>
          </c:val>
          <c:extLst>
            <c:ext xmlns:c16="http://schemas.microsoft.com/office/drawing/2014/chart" uri="{C3380CC4-5D6E-409C-BE32-E72D297353CC}">
              <c16:uniqueId val="{00000012-BBE8-4E00-A3A7-F612D43A7373}"/>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[Transaction qty per product category.xlsx]Sheet1!PivotTable6</c:name>
    <c:fmtId val="23"/>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2"/>
          </a:solidFill>
          <a:ln w="19050">
            <a:solidFill>
              <a:schemeClr val="lt1"/>
            </a:solidFill>
          </a:ln>
          <a:effectLst/>
        </c:spPr>
      </c:pivotFmt>
      <c:pivotFmt>
        <c:idx val="14"/>
        <c:spPr>
          <a:solidFill>
            <a:schemeClr val="accent3"/>
          </a:solidFill>
          <a:ln w="19050">
            <a:solidFill>
              <a:schemeClr val="lt1"/>
            </a:solidFill>
          </a:ln>
          <a:effectLst/>
        </c:spPr>
      </c:pivotFmt>
      <c:pivotFmt>
        <c:idx val="15"/>
        <c:spPr>
          <a:solidFill>
            <a:srgbClr val="00B0F0"/>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6"/>
          </a:solidFill>
          <a:ln w="19050">
            <a:solidFill>
              <a:schemeClr val="lt1"/>
            </a:solidFill>
          </a:ln>
          <a:effectLst/>
        </c:spPr>
      </c:pivotFmt>
      <c:pivotFmt>
        <c:idx val="18"/>
        <c:spPr>
          <a:solidFill>
            <a:schemeClr val="tx2"/>
          </a:solidFill>
          <a:ln w="19050">
            <a:solidFill>
              <a:schemeClr val="lt1"/>
            </a:solidFill>
          </a:ln>
          <a:effectLst/>
        </c:spPr>
      </c:pivotFmt>
      <c:pivotFmt>
        <c:idx val="19"/>
        <c:spPr>
          <a:solidFill>
            <a:schemeClr val="accent5">
              <a:lumMod val="50000"/>
            </a:schemeClr>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c:spPr>
      </c:pivotFmt>
      <c:pivotFmt>
        <c:idx val="23"/>
        <c:spPr>
          <a:solidFill>
            <a:schemeClr val="accent2"/>
          </a:solidFill>
          <a:ln w="19050">
            <a:solidFill>
              <a:schemeClr val="lt1"/>
            </a:solidFill>
          </a:ln>
          <a:effectLst/>
        </c:spPr>
      </c:pivotFmt>
      <c:pivotFmt>
        <c:idx val="24"/>
        <c:spPr>
          <a:solidFill>
            <a:schemeClr val="accent3"/>
          </a:solidFill>
          <a:ln w="19050">
            <a:solidFill>
              <a:schemeClr val="lt1"/>
            </a:solidFill>
          </a:ln>
          <a:effectLst/>
        </c:spPr>
      </c:pivotFmt>
      <c:pivotFmt>
        <c:idx val="25"/>
        <c:spPr>
          <a:solidFill>
            <a:srgbClr val="00B0F0"/>
          </a:solidFill>
          <a:ln w="19050">
            <a:solidFill>
              <a:schemeClr val="lt1"/>
            </a:solidFill>
          </a:ln>
          <a:effectLst/>
        </c:spPr>
      </c:pivotFmt>
      <c:pivotFmt>
        <c:idx val="26"/>
        <c:spPr>
          <a:solidFill>
            <a:schemeClr val="accent5"/>
          </a:solidFill>
          <a:ln w="19050">
            <a:solidFill>
              <a:schemeClr val="lt1"/>
            </a:solidFill>
          </a:ln>
          <a:effectLst/>
        </c:spPr>
      </c:pivotFmt>
      <c:pivotFmt>
        <c:idx val="27"/>
        <c:spPr>
          <a:solidFill>
            <a:schemeClr val="accent6"/>
          </a:solidFill>
          <a:ln w="19050">
            <a:solidFill>
              <a:schemeClr val="lt1"/>
            </a:solidFill>
          </a:ln>
          <a:effectLst/>
        </c:spPr>
      </c:pivotFmt>
      <c:pivotFmt>
        <c:idx val="28"/>
        <c:spPr>
          <a:solidFill>
            <a:schemeClr val="tx2"/>
          </a:solidFill>
          <a:ln w="19050">
            <a:solidFill>
              <a:schemeClr val="lt1"/>
            </a:solidFill>
          </a:ln>
          <a:effectLst/>
        </c:spPr>
      </c:pivotFmt>
      <c:pivotFmt>
        <c:idx val="29"/>
        <c:spPr>
          <a:solidFill>
            <a:schemeClr val="accent5">
              <a:lumMod val="50000"/>
            </a:schemeClr>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19050">
            <a:solidFill>
              <a:schemeClr val="lt1"/>
            </a:solidFill>
          </a:ln>
          <a:effectLst/>
        </c:spPr>
      </c:pivotFmt>
      <c:pivotFmt>
        <c:idx val="33"/>
        <c:spPr>
          <a:solidFill>
            <a:schemeClr val="accent2"/>
          </a:solidFill>
          <a:ln w="19050">
            <a:solidFill>
              <a:schemeClr val="lt1"/>
            </a:solidFill>
          </a:ln>
          <a:effectLst/>
        </c:spPr>
      </c:pivotFmt>
      <c:pivotFmt>
        <c:idx val="34"/>
        <c:spPr>
          <a:solidFill>
            <a:schemeClr val="accent3"/>
          </a:solidFill>
          <a:ln w="19050">
            <a:solidFill>
              <a:schemeClr val="lt1"/>
            </a:solidFill>
          </a:ln>
          <a:effectLst/>
        </c:spPr>
      </c:pivotFmt>
      <c:pivotFmt>
        <c:idx val="35"/>
        <c:spPr>
          <a:solidFill>
            <a:srgbClr val="00B0F0"/>
          </a:solidFill>
          <a:ln w="19050">
            <a:solidFill>
              <a:schemeClr val="lt1"/>
            </a:solidFill>
          </a:ln>
          <a:effectLst/>
        </c:spPr>
      </c:pivotFmt>
      <c:pivotFmt>
        <c:idx val="36"/>
        <c:spPr>
          <a:solidFill>
            <a:schemeClr val="accent5"/>
          </a:solidFill>
          <a:ln w="19050">
            <a:solidFill>
              <a:schemeClr val="lt1"/>
            </a:solidFill>
          </a:ln>
          <a:effectLst/>
        </c:spPr>
      </c:pivotFmt>
      <c:pivotFmt>
        <c:idx val="37"/>
        <c:spPr>
          <a:solidFill>
            <a:schemeClr val="accent6"/>
          </a:solidFill>
          <a:ln w="19050">
            <a:solidFill>
              <a:schemeClr val="lt1"/>
            </a:solidFill>
          </a:ln>
          <a:effectLst/>
        </c:spPr>
      </c:pivotFmt>
      <c:pivotFmt>
        <c:idx val="38"/>
        <c:spPr>
          <a:solidFill>
            <a:schemeClr val="tx2"/>
          </a:solidFill>
          <a:ln w="19050">
            <a:solidFill>
              <a:schemeClr val="lt1"/>
            </a:solidFill>
          </a:ln>
          <a:effectLst/>
        </c:spPr>
      </c:pivotFmt>
      <c:pivotFmt>
        <c:idx val="39"/>
        <c:spPr>
          <a:solidFill>
            <a:schemeClr val="accent5">
              <a:lumMod val="50000"/>
            </a:schemeClr>
          </a:solidFill>
          <a:ln w="19050">
            <a:solidFill>
              <a:schemeClr val="lt1"/>
            </a:solidFill>
          </a:ln>
          <a:effectLst/>
        </c:spPr>
      </c:pivotFmt>
      <c:pivotFmt>
        <c:idx val="40"/>
        <c:spPr>
          <a:solidFill>
            <a:schemeClr val="accent1"/>
          </a:solidFill>
          <a:ln w="19050">
            <a:solidFill>
              <a:schemeClr val="lt1"/>
            </a:solidFill>
          </a:ln>
          <a:effectLst/>
        </c:spPr>
      </c:pivotFmt>
    </c:pivotFmts>
    <c:plotArea>
      <c:layout/>
      <c:barChart>
        <c:barDir val="bar"/>
        <c:grouping val="clustered"/>
        <c:varyColors val="0"/>
        <c:ser>
          <c:idx val="0"/>
          <c:order val="0"/>
          <c:tx>
            <c:strRef>
              <c:f>Sheet1!$B$3</c:f>
              <c:strCache>
                <c:ptCount val="1"/>
                <c:pt idx="0">
                  <c:v>Total</c:v>
                </c:pt>
              </c:strCache>
            </c:strRef>
          </c:tx>
          <c:spPr>
            <a:solidFill>
              <a:schemeClr val="accent1"/>
            </a:solidFill>
            <a:ln w="19050">
              <a:solidFill>
                <a:schemeClr val="lt1"/>
              </a:solidFill>
            </a:ln>
            <a:effectLst/>
          </c:spPr>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111D-45F2-80C9-A3A7CADD8F66}"/>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111D-45F2-80C9-A3A7CADD8F66}"/>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111D-45F2-80C9-A3A7CADD8F66}"/>
              </c:ext>
            </c:extLst>
          </c:dPt>
          <c:dPt>
            <c:idx val="3"/>
            <c:invertIfNegative val="0"/>
            <c:bubble3D val="0"/>
            <c:spPr>
              <a:solidFill>
                <a:srgbClr val="00B0F0"/>
              </a:solidFill>
              <a:ln w="19050">
                <a:solidFill>
                  <a:schemeClr val="lt1"/>
                </a:solidFill>
              </a:ln>
              <a:effectLst/>
            </c:spPr>
            <c:extLst>
              <c:ext xmlns:c16="http://schemas.microsoft.com/office/drawing/2014/chart" uri="{C3380CC4-5D6E-409C-BE32-E72D297353CC}">
                <c16:uniqueId val="{00000007-111D-45F2-80C9-A3A7CADD8F66}"/>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111D-45F2-80C9-A3A7CADD8F66}"/>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111D-45F2-80C9-A3A7CADD8F66}"/>
              </c:ext>
            </c:extLst>
          </c:dPt>
          <c:dPt>
            <c:idx val="6"/>
            <c:invertIfNegative val="0"/>
            <c:bubble3D val="0"/>
            <c:spPr>
              <a:solidFill>
                <a:schemeClr val="tx2"/>
              </a:solidFill>
              <a:ln w="19050">
                <a:solidFill>
                  <a:schemeClr val="lt1"/>
                </a:solidFill>
              </a:ln>
              <a:effectLst/>
            </c:spPr>
            <c:extLst>
              <c:ext xmlns:c16="http://schemas.microsoft.com/office/drawing/2014/chart" uri="{C3380CC4-5D6E-409C-BE32-E72D297353CC}">
                <c16:uniqueId val="{0000000D-111D-45F2-80C9-A3A7CADD8F66}"/>
              </c:ext>
            </c:extLst>
          </c:dPt>
          <c:dPt>
            <c:idx val="7"/>
            <c:invertIfNegative val="0"/>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0F-111D-45F2-80C9-A3A7CADD8F66}"/>
              </c:ext>
            </c:extLst>
          </c:dPt>
          <c:dPt>
            <c:idx val="8"/>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11-111D-45F2-80C9-A3A7CADD8F66}"/>
              </c:ext>
            </c:extLst>
          </c:dPt>
          <c:cat>
            <c:strRef>
              <c:f>Sheet1!$A$4:$A$13</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Sheet1!$B$4:$B$13</c:f>
              <c:numCache>
                <c:formatCode>General</c:formatCode>
                <c:ptCount val="9"/>
                <c:pt idx="0">
                  <c:v>23214</c:v>
                </c:pt>
                <c:pt idx="1">
                  <c:v>776</c:v>
                </c:pt>
                <c:pt idx="2">
                  <c:v>89250</c:v>
                </c:pt>
                <c:pt idx="3">
                  <c:v>1828</c:v>
                </c:pt>
                <c:pt idx="4">
                  <c:v>17457</c:v>
                </c:pt>
                <c:pt idx="5">
                  <c:v>10511</c:v>
                </c:pt>
                <c:pt idx="6">
                  <c:v>1210</c:v>
                </c:pt>
                <c:pt idx="7">
                  <c:v>487</c:v>
                </c:pt>
                <c:pt idx="8">
                  <c:v>69737</c:v>
                </c:pt>
              </c:numCache>
            </c:numRef>
          </c:val>
          <c:extLst>
            <c:ext xmlns:c16="http://schemas.microsoft.com/office/drawing/2014/chart" uri="{C3380CC4-5D6E-409C-BE32-E72D297353CC}">
              <c16:uniqueId val="{00000012-111D-45F2-80C9-A3A7CADD8F66}"/>
            </c:ext>
          </c:extLst>
        </c:ser>
        <c:dLbls>
          <c:showLegendKey val="0"/>
          <c:showVal val="0"/>
          <c:showCatName val="0"/>
          <c:showSerName val="0"/>
          <c:showPercent val="0"/>
          <c:showBubbleSize val="0"/>
        </c:dLbls>
        <c:gapWidth val="100"/>
        <c:axId val="65808495"/>
        <c:axId val="65799375"/>
      </c:barChart>
      <c:valAx>
        <c:axId val="6579937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808495"/>
        <c:crosses val="autoZero"/>
        <c:crossBetween val="between"/>
      </c:valAx>
      <c:catAx>
        <c:axId val="6580849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crossAx val="65799375"/>
        <c:crosses val="autoZero"/>
        <c:auto val="1"/>
        <c:lblAlgn val="ctr"/>
        <c:lblOffset val="100"/>
        <c:noMultiLvlLbl val="0"/>
      </c:catAx>
      <c:spPr>
        <a:noFill/>
        <a:ln>
          <a:noFill/>
        </a:ln>
        <a:effectLst/>
      </c:spPr>
    </c:plotArea>
    <c:legend>
      <c:legendPos val="r"/>
      <c:overlay val="0"/>
      <c:spPr>
        <a:noFill/>
        <a:ln>
          <a:noFill/>
        </a:ln>
        <a:effectLst/>
      </c:spPr>
      <c:txPr>
        <a:bodyPr rot="0" spcFirstLastPara="1" vertOverflow="ellipsis" vert="horz" wrap="square" anchor="ctr" anchorCtr="1"/>
        <a:lstStyle/>
        <a:p>
          <a:pPr>
            <a:defRPr sz="1100" b="1" i="0" u="none" strike="noStrike" kern="1200" baseline="0">
              <a:solidFill>
                <a:schemeClr val="accent3">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2.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3.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4.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5.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2C450-A90F-A2C9-A303-6A0AE89005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C2204FE0-5280-EA44-0ECF-EBC30B8777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CCE31291-9150-80D9-E2A2-55AF05B1D55B}"/>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5" name="Footer Placeholder 4">
            <a:extLst>
              <a:ext uri="{FF2B5EF4-FFF2-40B4-BE49-F238E27FC236}">
                <a16:creationId xmlns:a16="http://schemas.microsoft.com/office/drawing/2014/main" id="{5FCFABC3-9F89-E408-FCFA-76E598CD4F4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46136F7-ECC2-B8A9-1484-40A28165A2EF}"/>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2174102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F2FBA-333A-5906-4DDE-311113A92317}"/>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915400A-0C1F-15CF-0206-A62F49684E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24D0F95-7B01-00D6-A0C2-BF8F36D27796}"/>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5" name="Footer Placeholder 4">
            <a:extLst>
              <a:ext uri="{FF2B5EF4-FFF2-40B4-BE49-F238E27FC236}">
                <a16:creationId xmlns:a16="http://schemas.microsoft.com/office/drawing/2014/main" id="{7E2A2A0B-555C-13D9-5AA0-06114B45369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5F191FF-4218-29E5-8424-EF30432578EF}"/>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3788608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A5A7-3382-5A00-2004-752D2E7E3F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75F94F9F-B0C8-E442-E130-6737A88254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59F56D-D583-752F-3175-7DC83FED2BF5}"/>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5" name="Footer Placeholder 4">
            <a:extLst>
              <a:ext uri="{FF2B5EF4-FFF2-40B4-BE49-F238E27FC236}">
                <a16:creationId xmlns:a16="http://schemas.microsoft.com/office/drawing/2014/main" id="{2EA64648-6AD3-1647-E666-11491644032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59D4F1C-4500-9C8B-845C-86B273559505}"/>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3835415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F3A02-5B17-C860-7230-30A38867569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5D18A0B-2F9C-5B23-105D-6790297440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E931B0BF-0936-5F13-76F2-E0D14747D2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1DB81F9B-2CE9-B27D-CCE0-4FAEA568B08D}"/>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6" name="Footer Placeholder 5">
            <a:extLst>
              <a:ext uri="{FF2B5EF4-FFF2-40B4-BE49-F238E27FC236}">
                <a16:creationId xmlns:a16="http://schemas.microsoft.com/office/drawing/2014/main" id="{747DD250-BAD3-3A2F-1D5A-0DC7BEE18E2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9126819-6405-D3C3-5BA2-57C16E0EE2A5}"/>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549213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2B775-F4E6-7E01-7C33-CEB402AF32EB}"/>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3BD2B2C-22B6-2337-6855-EE93C0319D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D31ED-8CD1-A076-83BC-C74DA3E3FF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3915B0A1-1342-13B0-5BC3-46E16BF63F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AB2CB0-684D-AF2E-4A13-621E2BCB16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8AF36835-873F-1B05-C9F1-AE2B46DD112C}"/>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8" name="Footer Placeholder 7">
            <a:extLst>
              <a:ext uri="{FF2B5EF4-FFF2-40B4-BE49-F238E27FC236}">
                <a16:creationId xmlns:a16="http://schemas.microsoft.com/office/drawing/2014/main" id="{C2789269-1244-9E3A-4213-A151E7193C74}"/>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5B0DFA5A-12A1-1510-03F4-04BDD98BAD81}"/>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389021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2148A-ACD2-390B-DF3A-2B0650006B12}"/>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F2874091-64D2-D997-3FCA-44164ABC7323}"/>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4" name="Footer Placeholder 3">
            <a:extLst>
              <a:ext uri="{FF2B5EF4-FFF2-40B4-BE49-F238E27FC236}">
                <a16:creationId xmlns:a16="http://schemas.microsoft.com/office/drawing/2014/main" id="{2B2F07CB-1208-4FF9-6C98-74DD138DF93C}"/>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9C026E3-3183-3943-B8C0-8B7DFCF73038}"/>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425881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CBDA0-762E-203B-37A4-B36CF6B209AD}"/>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3" name="Footer Placeholder 2">
            <a:extLst>
              <a:ext uri="{FF2B5EF4-FFF2-40B4-BE49-F238E27FC236}">
                <a16:creationId xmlns:a16="http://schemas.microsoft.com/office/drawing/2014/main" id="{2F20A777-2E4F-9FB7-6C82-C7BD68B765A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72B6F64F-19D0-330E-7471-FF018415540B}"/>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22979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5BC1-BDF3-CB9E-9364-52071E88B1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A2C4E89-8F21-6A7B-6584-2D9DA2DDCA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B0BBCA9F-9580-4A26-AC9E-6F0D7532D7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C7928A-ACA9-BFDC-B8E2-97570AB79866}"/>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6" name="Footer Placeholder 5">
            <a:extLst>
              <a:ext uri="{FF2B5EF4-FFF2-40B4-BE49-F238E27FC236}">
                <a16:creationId xmlns:a16="http://schemas.microsoft.com/office/drawing/2014/main" id="{47DD65E6-72C5-E800-F747-D22C24E50D2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5D02204-15DE-42E5-3ACC-04D9337BFF2A}"/>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752364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6DC4D-B85A-20EF-7591-B3EF816C71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ACCA3D3F-F8AD-4DA1-A5E5-8101DD1A6F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5FB4F91A-30CC-CB48-3D4F-A4F80422DE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5DC1B4-DE36-3837-11CE-18ECDB96E226}"/>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6" name="Footer Placeholder 5">
            <a:extLst>
              <a:ext uri="{FF2B5EF4-FFF2-40B4-BE49-F238E27FC236}">
                <a16:creationId xmlns:a16="http://schemas.microsoft.com/office/drawing/2014/main" id="{196D0556-DE9D-EA54-E3AA-CE96FCB3623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668E7BF-58E1-7E1E-60FE-60849FCC4D9B}"/>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3912828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D027E-083D-32C2-8B8F-B343F8D80A7A}"/>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7660E1C-5965-0908-2006-67C76AD6E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AE1C51A-80F1-028C-4C40-C4DE96572C0F}"/>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5" name="Footer Placeholder 4">
            <a:extLst>
              <a:ext uri="{FF2B5EF4-FFF2-40B4-BE49-F238E27FC236}">
                <a16:creationId xmlns:a16="http://schemas.microsoft.com/office/drawing/2014/main" id="{2D697BC2-83F8-2BF4-20FF-55C005934A0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E7F1562-4072-2AA1-58C2-7FFA75AEC203}"/>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1146793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4F4CA3-3DFD-9805-D7AF-570742D29B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FAFAAFB-9D48-CE12-9D7D-42371A0F84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89EF53F-9D94-2FBE-A9A9-59CCEEB0A79A}"/>
              </a:ext>
            </a:extLst>
          </p:cNvPr>
          <p:cNvSpPr>
            <a:spLocks noGrp="1"/>
          </p:cNvSpPr>
          <p:nvPr>
            <p:ph type="dt" sz="half" idx="10"/>
          </p:nvPr>
        </p:nvSpPr>
        <p:spPr/>
        <p:txBody>
          <a:bodyPr/>
          <a:lstStyle/>
          <a:p>
            <a:fld id="{133305EA-BEDD-4813-B134-B568A5D81B41}" type="datetimeFigureOut">
              <a:rPr lang="en-ZA" smtClean="0"/>
              <a:t>2025/11/10</a:t>
            </a:fld>
            <a:endParaRPr lang="en-ZA"/>
          </a:p>
        </p:txBody>
      </p:sp>
      <p:sp>
        <p:nvSpPr>
          <p:cNvPr id="5" name="Footer Placeholder 4">
            <a:extLst>
              <a:ext uri="{FF2B5EF4-FFF2-40B4-BE49-F238E27FC236}">
                <a16:creationId xmlns:a16="http://schemas.microsoft.com/office/drawing/2014/main" id="{FB6D7967-FF54-67D5-1091-B6C32A10E2C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EF6A00F-F88C-F6B6-1C54-7F6FF50D5309}"/>
              </a:ext>
            </a:extLst>
          </p:cNvPr>
          <p:cNvSpPr>
            <a:spLocks noGrp="1"/>
          </p:cNvSpPr>
          <p:nvPr>
            <p:ph type="sldNum" sz="quarter" idx="12"/>
          </p:nvPr>
        </p:nvSpPr>
        <p:spPr/>
        <p:txBody>
          <a:bodyPr/>
          <a:lstStyle/>
          <a:p>
            <a:fld id="{B07934FB-F611-43F1-84BA-A0F46EE222E8}" type="slidenum">
              <a:rPr lang="en-ZA" smtClean="0"/>
              <a:t>‹#›</a:t>
            </a:fld>
            <a:endParaRPr lang="en-ZA"/>
          </a:p>
        </p:txBody>
      </p:sp>
    </p:spTree>
    <p:extLst>
      <p:ext uri="{BB962C8B-B14F-4D97-AF65-F5344CB8AC3E}">
        <p14:creationId xmlns:p14="http://schemas.microsoft.com/office/powerpoint/2010/main" val="2908030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1CFBE5-315C-2D71-3D1B-9F619A61AF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E7DB006-CE84-4D74-EE27-377F83A0B3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1AA1CF9-E799-AD4A-F11D-7FCB9ACA56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3305EA-BEDD-4813-B134-B568A5D81B41}" type="datetimeFigureOut">
              <a:rPr lang="en-ZA" smtClean="0"/>
              <a:t>2025/11/10</a:t>
            </a:fld>
            <a:endParaRPr lang="en-ZA"/>
          </a:p>
        </p:txBody>
      </p:sp>
      <p:sp>
        <p:nvSpPr>
          <p:cNvPr id="5" name="Footer Placeholder 4">
            <a:extLst>
              <a:ext uri="{FF2B5EF4-FFF2-40B4-BE49-F238E27FC236}">
                <a16:creationId xmlns:a16="http://schemas.microsoft.com/office/drawing/2014/main" id="{0657F34F-E3A7-DFBC-C53C-72F5F92D11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2CA7F14E-671B-9940-A99D-16FF2681A1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7934FB-F611-43F1-84BA-A0F46EE222E8}" type="slidenum">
              <a:rPr lang="en-ZA" smtClean="0"/>
              <a:t>‹#›</a:t>
            </a:fld>
            <a:endParaRPr lang="en-ZA"/>
          </a:p>
        </p:txBody>
      </p:sp>
    </p:spTree>
    <p:extLst>
      <p:ext uri="{BB962C8B-B14F-4D97-AF65-F5344CB8AC3E}">
        <p14:creationId xmlns:p14="http://schemas.microsoft.com/office/powerpoint/2010/main" val="2757239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lickr.com/photos/northkoreatravel/10194462015/"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BE557F2A-2BEF-6CA5-0B68-B584F3088534}"/>
              </a:ext>
            </a:extLst>
          </p:cNvPr>
          <p:cNvPicPr>
            <a:picLocks noChangeAspect="1"/>
          </p:cNvPicPr>
          <p:nvPr/>
        </p:nvPicPr>
        <p:blipFill>
          <a:blip r:embed="rId2">
            <a:alphaModFix/>
          </a:blip>
          <a:srcRect t="20075" b="4299"/>
          <a:stretch>
            <a:fillRect/>
          </a:stretch>
        </p:blipFill>
        <p:spPr>
          <a:xfrm>
            <a:off x="4283902" y="10"/>
            <a:ext cx="7908098" cy="6857992"/>
          </a:xfrm>
          <a:prstGeom prst="rect">
            <a:avLst/>
          </a:prstGeom>
        </p:spPr>
      </p:pic>
      <p:sp>
        <p:nvSpPr>
          <p:cNvPr id="27" name="Rectangle 26">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utoShape 4">
            <a:extLst>
              <a:ext uri="{FF2B5EF4-FFF2-40B4-BE49-F238E27FC236}">
                <a16:creationId xmlns:a16="http://schemas.microsoft.com/office/drawing/2014/main" id="{9BDDEAD4-B990-57D3-CC48-24682222DE5B}"/>
              </a:ext>
            </a:extLst>
          </p:cNvPr>
          <p:cNvSpPr>
            <a:spLocks noGrp="1" noChangeAspect="1" noChangeArrowheads="1"/>
          </p:cNvSpPr>
          <p:nvPr>
            <p:ph type="title"/>
          </p:nvPr>
        </p:nvSpPr>
        <p:spPr bwMode="auto">
          <a:xfrm>
            <a:off x="728663" y="1115219"/>
            <a:ext cx="5505449" cy="2387600"/>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rtlCol="0" anchor="b" anchorCtr="0" compatLnSpc="1">
            <a:prstTxWarp prst="textNoShape">
              <a:avLst/>
            </a:prstTxWarp>
            <a:normAutofit/>
          </a:bodyPr>
          <a:lstStyle/>
          <a:p>
            <a:r>
              <a:rPr lang="en-US" sz="3600" dirty="0">
                <a:solidFill>
                  <a:schemeClr val="accent2">
                    <a:lumMod val="75000"/>
                  </a:schemeClr>
                </a:solidFill>
                <a:latin typeface="Algerian" panose="04020705040A02060702" pitchFamily="82" charset="0"/>
              </a:rPr>
              <a:t>BRIGHT COFFEE SHOP | SHOPPING TRENDS</a:t>
            </a:r>
            <a:br>
              <a:rPr lang="en-US" sz="3600" dirty="0">
                <a:solidFill>
                  <a:schemeClr val="accent2">
                    <a:lumMod val="75000"/>
                  </a:schemeClr>
                </a:solidFill>
                <a:latin typeface="Algerian" panose="04020705040A02060702" pitchFamily="82" charset="0"/>
              </a:rPr>
            </a:br>
            <a:br>
              <a:rPr lang="en-US" sz="3600" dirty="0">
                <a:solidFill>
                  <a:schemeClr val="accent2">
                    <a:lumMod val="75000"/>
                  </a:schemeClr>
                </a:solidFill>
                <a:latin typeface="Algerian" panose="04020705040A02060702" pitchFamily="82" charset="0"/>
              </a:rPr>
            </a:br>
            <a:r>
              <a:rPr lang="en-US" sz="1800" dirty="0">
                <a:solidFill>
                  <a:schemeClr val="accent2">
                    <a:lumMod val="75000"/>
                  </a:schemeClr>
                </a:solidFill>
                <a:latin typeface="Algerian" panose="04020705040A02060702" pitchFamily="82" charset="0"/>
              </a:rPr>
              <a:t>Andile Ngcongwane | DATA ANALYTICS</a:t>
            </a:r>
            <a:endParaRPr lang="en-US" sz="3600" dirty="0">
              <a:solidFill>
                <a:schemeClr val="accent2">
                  <a:lumMod val="75000"/>
                </a:schemeClr>
              </a:solidFill>
              <a:latin typeface="Algerian" panose="04020705040A02060702" pitchFamily="82" charset="0"/>
            </a:endParaRPr>
          </a:p>
        </p:txBody>
      </p:sp>
      <p:cxnSp>
        <p:nvCxnSpPr>
          <p:cNvPr id="28" name="Straight Connector 27">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0812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25E80DC1-EDF4-7B05-7820-1463D4CB6719}"/>
              </a:ext>
            </a:extLst>
          </p:cNvPr>
          <p:cNvSpPr>
            <a:spLocks noGrp="1"/>
          </p:cNvSpPr>
          <p:nvPr>
            <p:ph type="title"/>
          </p:nvPr>
        </p:nvSpPr>
        <p:spPr>
          <a:xfrm>
            <a:off x="1371597" y="348865"/>
            <a:ext cx="10044023" cy="877729"/>
          </a:xfrm>
        </p:spPr>
        <p:txBody>
          <a:bodyPr anchor="ctr">
            <a:normAutofit fontScale="90000"/>
          </a:bodyPr>
          <a:lstStyle/>
          <a:p>
            <a:r>
              <a:rPr lang="en-ZA" sz="4000" dirty="0">
                <a:solidFill>
                  <a:srgbClr val="FFFFFF"/>
                </a:solidFill>
              </a:rPr>
              <a:t>Total number of sales over 6 months: 149116</a:t>
            </a:r>
            <a:br>
              <a:rPr lang="en-ZA" sz="4000" dirty="0">
                <a:solidFill>
                  <a:srgbClr val="FFFFFF"/>
                </a:solidFill>
              </a:rPr>
            </a:br>
            <a:r>
              <a:rPr lang="en-ZA" sz="2000" dirty="0">
                <a:solidFill>
                  <a:schemeClr val="accent2">
                    <a:lumMod val="20000"/>
                    <a:lumOff val="80000"/>
                  </a:schemeClr>
                </a:solidFill>
              </a:rPr>
              <a:t>The shop sales have been consistently making higher sales over the period of 6 months, evidently sales grow as seasons approach winter</a:t>
            </a:r>
            <a:r>
              <a:rPr lang="en-ZA" sz="4000" dirty="0">
                <a:solidFill>
                  <a:schemeClr val="accent2">
                    <a:lumMod val="20000"/>
                    <a:lumOff val="80000"/>
                  </a:schemeClr>
                </a:solidFill>
              </a:rPr>
              <a:t> </a:t>
            </a:r>
          </a:p>
        </p:txBody>
      </p:sp>
      <p:graphicFrame>
        <p:nvGraphicFramePr>
          <p:cNvPr id="8" name="Content Placeholder 7">
            <a:extLst>
              <a:ext uri="{FF2B5EF4-FFF2-40B4-BE49-F238E27FC236}">
                <a16:creationId xmlns:a16="http://schemas.microsoft.com/office/drawing/2014/main" id="{7F0DC5F1-E2BE-82A8-4827-5A9D4736B694}"/>
              </a:ext>
            </a:extLst>
          </p:cNvPr>
          <p:cNvGraphicFramePr>
            <a:graphicFrameLocks noGrp="1"/>
          </p:cNvGraphicFramePr>
          <p:nvPr>
            <p:ph idx="1"/>
            <p:extLst>
              <p:ext uri="{D42A27DB-BD31-4B8C-83A1-F6EECF244321}">
                <p14:modId xmlns:p14="http://schemas.microsoft.com/office/powerpoint/2010/main" val="49853796"/>
              </p:ext>
            </p:extLst>
          </p:nvPr>
        </p:nvGraphicFramePr>
        <p:xfrm>
          <a:off x="644057" y="2112579"/>
          <a:ext cx="11199600" cy="45059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977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C2C50D-945A-9833-1F0A-DEBE04767271}"/>
              </a:ext>
            </a:extLst>
          </p:cNvPr>
          <p:cNvSpPr>
            <a:spLocks noGrp="1"/>
          </p:cNvSpPr>
          <p:nvPr>
            <p:ph type="title"/>
          </p:nvPr>
        </p:nvSpPr>
        <p:spPr>
          <a:xfrm>
            <a:off x="1383564" y="348865"/>
            <a:ext cx="9718111" cy="1576446"/>
          </a:xfrm>
        </p:spPr>
        <p:txBody>
          <a:bodyPr anchor="ctr">
            <a:normAutofit fontScale="90000"/>
          </a:bodyPr>
          <a:lstStyle/>
          <a:p>
            <a:br>
              <a:rPr lang="en-US" sz="4000" dirty="0">
                <a:solidFill>
                  <a:srgbClr val="FFFFFF"/>
                </a:solidFill>
              </a:rPr>
            </a:br>
            <a:r>
              <a:rPr lang="en-US" sz="4000" dirty="0">
                <a:solidFill>
                  <a:srgbClr val="FFFFFF"/>
                </a:solidFill>
              </a:rPr>
              <a:t>Revenue</a:t>
            </a:r>
            <a:r>
              <a:rPr lang="en-US" sz="4000" baseline="0" dirty="0">
                <a:solidFill>
                  <a:srgbClr val="FFFFFF"/>
                </a:solidFill>
              </a:rPr>
              <a:t> per day of the week for each shop</a:t>
            </a:r>
            <a:br>
              <a:rPr lang="en-US" sz="1000" baseline="0" dirty="0">
                <a:solidFill>
                  <a:srgbClr val="FFFFFF"/>
                </a:solidFill>
              </a:rPr>
            </a:br>
            <a:r>
              <a:rPr lang="en-US" sz="1600" baseline="0" dirty="0">
                <a:solidFill>
                  <a:srgbClr val="FFFFFF"/>
                </a:solidFill>
              </a:rPr>
              <a:t>Data in this chart specifies the top performing shop per day of the week</a:t>
            </a:r>
            <a:br>
              <a:rPr lang="en-US" sz="1600" baseline="0" dirty="0">
                <a:solidFill>
                  <a:srgbClr val="FFFFFF"/>
                </a:solidFill>
              </a:rPr>
            </a:br>
            <a:r>
              <a:rPr lang="en-US" sz="1600" baseline="0" dirty="0">
                <a:solidFill>
                  <a:srgbClr val="FFFFFF"/>
                </a:solidFill>
              </a:rPr>
              <a:t>Hell’s Kitchen generate the most revenue on Tuesdays and Fridays than all the shops</a:t>
            </a:r>
            <a:br>
              <a:rPr lang="en-US" sz="1600" baseline="0" dirty="0">
                <a:solidFill>
                  <a:srgbClr val="FFFFFF"/>
                </a:solidFill>
              </a:rPr>
            </a:br>
            <a:r>
              <a:rPr lang="en-US" sz="1600" baseline="0" dirty="0">
                <a:solidFill>
                  <a:srgbClr val="FFFFFF"/>
                </a:solidFill>
              </a:rPr>
              <a:t>Lower Manhattan takes the number 2 spot for revenue it generates on Mondays, but is closely followed by Astoria on the same day</a:t>
            </a:r>
            <a:br>
              <a:rPr lang="en-US" sz="1600" baseline="0" dirty="0">
                <a:solidFill>
                  <a:srgbClr val="FFFFFF"/>
                </a:solidFill>
              </a:rPr>
            </a:br>
            <a:r>
              <a:rPr lang="en-US" sz="1600" baseline="0" dirty="0">
                <a:solidFill>
                  <a:srgbClr val="FFFFFF"/>
                </a:solidFill>
              </a:rPr>
              <a:t>However, on Wednesdays and Thursdays Astori</a:t>
            </a:r>
            <a:r>
              <a:rPr lang="en-US" sz="1600" dirty="0">
                <a:solidFill>
                  <a:srgbClr val="FFFFFF"/>
                </a:solidFill>
              </a:rPr>
              <a:t>a keeps their revenue higher than all the shops</a:t>
            </a:r>
            <a:br>
              <a:rPr lang="en-US" sz="1600" dirty="0">
                <a:solidFill>
                  <a:srgbClr val="FFFFFF"/>
                </a:solidFill>
              </a:rPr>
            </a:br>
            <a:r>
              <a:rPr lang="en-US" sz="1600" dirty="0">
                <a:solidFill>
                  <a:srgbClr val="FFFFFF"/>
                </a:solidFill>
              </a:rPr>
              <a:t>Fridays is Hell’s Kitchen day due to their high revenue they suddenly gain beating all 3 shops by a mile</a:t>
            </a:r>
            <a:br>
              <a:rPr lang="en-US" sz="1000" baseline="0" dirty="0">
                <a:solidFill>
                  <a:srgbClr val="FFFFFF"/>
                </a:solidFill>
              </a:rPr>
            </a:br>
            <a:br>
              <a:rPr lang="en-US" sz="1000" baseline="0" dirty="0">
                <a:solidFill>
                  <a:srgbClr val="FFFFFF"/>
                </a:solidFill>
              </a:rPr>
            </a:br>
            <a:endParaRPr lang="en-ZA" sz="1000" dirty="0">
              <a:solidFill>
                <a:srgbClr val="FFFFFF"/>
              </a:solidFill>
            </a:endParaRPr>
          </a:p>
        </p:txBody>
      </p:sp>
      <p:graphicFrame>
        <p:nvGraphicFramePr>
          <p:cNvPr id="4" name="Content Placeholder 3">
            <a:extLst>
              <a:ext uri="{FF2B5EF4-FFF2-40B4-BE49-F238E27FC236}">
                <a16:creationId xmlns:a16="http://schemas.microsoft.com/office/drawing/2014/main" id="{81DD5899-40DA-CBB9-083E-2AE7CA1C72AE}"/>
              </a:ext>
            </a:extLst>
          </p:cNvPr>
          <p:cNvGraphicFramePr>
            <a:graphicFrameLocks noGrp="1"/>
          </p:cNvGraphicFramePr>
          <p:nvPr>
            <p:ph idx="1"/>
            <p:extLst>
              <p:ext uri="{D42A27DB-BD31-4B8C-83A1-F6EECF244321}">
                <p14:modId xmlns:p14="http://schemas.microsoft.com/office/powerpoint/2010/main" val="464806250"/>
              </p:ext>
            </p:extLst>
          </p:nvPr>
        </p:nvGraphicFramePr>
        <p:xfrm>
          <a:off x="644056" y="2615979"/>
          <a:ext cx="10927829" cy="36894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6488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3DC9C0-94D2-0AC9-258F-D671D279BB67}"/>
              </a:ext>
            </a:extLst>
          </p:cNvPr>
          <p:cNvSpPr>
            <a:spLocks noGrp="1"/>
          </p:cNvSpPr>
          <p:nvPr>
            <p:ph type="title"/>
          </p:nvPr>
        </p:nvSpPr>
        <p:spPr>
          <a:xfrm>
            <a:off x="1371597" y="348865"/>
            <a:ext cx="10044023" cy="877729"/>
          </a:xfrm>
        </p:spPr>
        <p:txBody>
          <a:bodyPr anchor="ctr">
            <a:normAutofit fontScale="90000"/>
          </a:bodyPr>
          <a:lstStyle/>
          <a:p>
            <a:r>
              <a:rPr lang="en-ZA" sz="2800" dirty="0">
                <a:solidFill>
                  <a:srgbClr val="FFFFFF"/>
                </a:solidFill>
              </a:rPr>
              <a:t>Number of Sales (Weekday/Weekend)</a:t>
            </a:r>
            <a:br>
              <a:rPr lang="en-ZA" sz="1600" dirty="0">
                <a:solidFill>
                  <a:srgbClr val="FFFFFF"/>
                </a:solidFill>
              </a:rPr>
            </a:br>
            <a:r>
              <a:rPr lang="en-ZA" sz="1600" dirty="0">
                <a:solidFill>
                  <a:srgbClr val="FFFFFF"/>
                </a:solidFill>
              </a:rPr>
              <a:t>The establishment makes better sales during the week than it does on the weekends, perhaps this is caused by the customers seeing the establishment as an ideal place to fill the rush before business day begins</a:t>
            </a:r>
          </a:p>
        </p:txBody>
      </p:sp>
      <p:graphicFrame>
        <p:nvGraphicFramePr>
          <p:cNvPr id="4" name="Content Placeholder 3">
            <a:extLst>
              <a:ext uri="{FF2B5EF4-FFF2-40B4-BE49-F238E27FC236}">
                <a16:creationId xmlns:a16="http://schemas.microsoft.com/office/drawing/2014/main" id="{8B6F2F6B-164D-C2E0-CFB0-3BF55183D4D0}"/>
              </a:ext>
            </a:extLst>
          </p:cNvPr>
          <p:cNvGraphicFramePr>
            <a:graphicFrameLocks noGrp="1"/>
          </p:cNvGraphicFramePr>
          <p:nvPr>
            <p:ph idx="1"/>
            <p:extLst>
              <p:ext uri="{D42A27DB-BD31-4B8C-83A1-F6EECF244321}">
                <p14:modId xmlns:p14="http://schemas.microsoft.com/office/powerpoint/2010/main" val="2306865001"/>
              </p:ext>
            </p:extLst>
          </p:nvPr>
        </p:nvGraphicFramePr>
        <p:xfrm>
          <a:off x="644056" y="2112579"/>
          <a:ext cx="10927829" cy="41928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456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F03770E-3236-5AC1-4814-09BE602D5AA0}"/>
              </a:ext>
            </a:extLst>
          </p:cNvPr>
          <p:cNvSpPr>
            <a:spLocks noGrp="1"/>
          </p:cNvSpPr>
          <p:nvPr>
            <p:ph type="title"/>
          </p:nvPr>
        </p:nvSpPr>
        <p:spPr>
          <a:xfrm>
            <a:off x="1383564" y="348865"/>
            <a:ext cx="9718111" cy="1576446"/>
          </a:xfrm>
        </p:spPr>
        <p:txBody>
          <a:bodyPr anchor="ctr">
            <a:normAutofit/>
          </a:bodyPr>
          <a:lstStyle/>
          <a:p>
            <a:r>
              <a:rPr lang="en-ZA" sz="2500" dirty="0">
                <a:solidFill>
                  <a:srgbClr val="FFFFFF"/>
                </a:solidFill>
              </a:rPr>
              <a:t>Revenue per time of day (Morning, Afternoon and Evening)</a:t>
            </a:r>
            <a:br>
              <a:rPr lang="en-ZA" sz="2500" dirty="0">
                <a:solidFill>
                  <a:srgbClr val="FFFFFF"/>
                </a:solidFill>
              </a:rPr>
            </a:br>
            <a:r>
              <a:rPr lang="en-ZA" sz="1800" dirty="0">
                <a:solidFill>
                  <a:srgbClr val="FFFFFF"/>
                </a:solidFill>
              </a:rPr>
              <a:t>Sales reflect that every morning at all stores customers buy more as compared to the afternoons and evenings which simply means the products are good for mornings consumption.</a:t>
            </a:r>
          </a:p>
        </p:txBody>
      </p:sp>
      <p:graphicFrame>
        <p:nvGraphicFramePr>
          <p:cNvPr id="5" name="Content Placeholder 4">
            <a:extLst>
              <a:ext uri="{FF2B5EF4-FFF2-40B4-BE49-F238E27FC236}">
                <a16:creationId xmlns:a16="http://schemas.microsoft.com/office/drawing/2014/main" id="{27D28024-722C-471C-9A22-D406E2377142}"/>
              </a:ext>
            </a:extLst>
          </p:cNvPr>
          <p:cNvGraphicFramePr>
            <a:graphicFrameLocks noGrp="1"/>
          </p:cNvGraphicFramePr>
          <p:nvPr>
            <p:ph idx="1"/>
            <p:extLst>
              <p:ext uri="{D42A27DB-BD31-4B8C-83A1-F6EECF244321}">
                <p14:modId xmlns:p14="http://schemas.microsoft.com/office/powerpoint/2010/main" val="4156039842"/>
              </p:ext>
            </p:extLst>
          </p:nvPr>
        </p:nvGraphicFramePr>
        <p:xfrm>
          <a:off x="644056" y="2615979"/>
          <a:ext cx="10927829" cy="36894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24864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0BADED-CC80-AE81-ABDA-EFCBCA67F188}"/>
              </a:ext>
            </a:extLst>
          </p:cNvPr>
          <p:cNvSpPr>
            <a:spLocks noGrp="1"/>
          </p:cNvSpPr>
          <p:nvPr>
            <p:ph type="title"/>
          </p:nvPr>
        </p:nvSpPr>
        <p:spPr>
          <a:xfrm>
            <a:off x="1383564" y="348865"/>
            <a:ext cx="9718111" cy="1576446"/>
          </a:xfrm>
        </p:spPr>
        <p:txBody>
          <a:bodyPr anchor="ctr">
            <a:normAutofit/>
          </a:bodyPr>
          <a:lstStyle/>
          <a:p>
            <a:r>
              <a:rPr lang="en-ZA" sz="4000" dirty="0">
                <a:solidFill>
                  <a:srgbClr val="FFFFFF"/>
                </a:solidFill>
              </a:rPr>
              <a:t>Revenue per season</a:t>
            </a:r>
            <a:br>
              <a:rPr lang="en-ZA" sz="4000" dirty="0">
                <a:solidFill>
                  <a:srgbClr val="FFFFFF"/>
                </a:solidFill>
              </a:rPr>
            </a:br>
            <a:r>
              <a:rPr lang="en-ZA" sz="1400" dirty="0">
                <a:solidFill>
                  <a:srgbClr val="FFFFFF"/>
                </a:solidFill>
              </a:rPr>
              <a:t>The store makes the most sales in winter, the season before which is autumn the sales reflect a rally in trend indicating that the products are ideal for a cold weather. If we look back at the previous data of time of day, the mornings make better sales than afternoons and evenings which still indicates the same point of the products being ideal for the cold weather.</a:t>
            </a:r>
            <a:endParaRPr lang="en-ZA" sz="4000" dirty="0">
              <a:solidFill>
                <a:srgbClr val="FFFFFF"/>
              </a:solidFill>
            </a:endParaRPr>
          </a:p>
        </p:txBody>
      </p:sp>
      <p:graphicFrame>
        <p:nvGraphicFramePr>
          <p:cNvPr id="4" name="Content Placeholder 3">
            <a:extLst>
              <a:ext uri="{FF2B5EF4-FFF2-40B4-BE49-F238E27FC236}">
                <a16:creationId xmlns:a16="http://schemas.microsoft.com/office/drawing/2014/main" id="{2DC7448C-FBE0-5F6B-0887-C3416C19BD98}"/>
              </a:ext>
            </a:extLst>
          </p:cNvPr>
          <p:cNvGraphicFramePr>
            <a:graphicFrameLocks noGrp="1"/>
          </p:cNvGraphicFramePr>
          <p:nvPr>
            <p:ph idx="1"/>
            <p:extLst>
              <p:ext uri="{D42A27DB-BD31-4B8C-83A1-F6EECF244321}">
                <p14:modId xmlns:p14="http://schemas.microsoft.com/office/powerpoint/2010/main" val="1497964327"/>
              </p:ext>
            </p:extLst>
          </p:nvPr>
        </p:nvGraphicFramePr>
        <p:xfrm>
          <a:off x="644056" y="2615979"/>
          <a:ext cx="10927829" cy="36894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84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19D749-8454-D44A-DD35-B3673F437C8C}"/>
              </a:ext>
            </a:extLst>
          </p:cNvPr>
          <p:cNvSpPr>
            <a:spLocks noGrp="1"/>
          </p:cNvSpPr>
          <p:nvPr>
            <p:ph type="title"/>
          </p:nvPr>
        </p:nvSpPr>
        <p:spPr>
          <a:xfrm>
            <a:off x="1371597" y="348865"/>
            <a:ext cx="10044023" cy="877729"/>
          </a:xfrm>
        </p:spPr>
        <p:txBody>
          <a:bodyPr anchor="ctr">
            <a:normAutofit fontScale="90000"/>
          </a:bodyPr>
          <a:lstStyle/>
          <a:p>
            <a:r>
              <a:rPr lang="en-ZA" sz="4000" dirty="0">
                <a:solidFill>
                  <a:srgbClr val="FFFFFF"/>
                </a:solidFill>
              </a:rPr>
              <a:t>Transaction QTY per product category</a:t>
            </a:r>
            <a:br>
              <a:rPr lang="en-ZA" sz="4000" dirty="0">
                <a:solidFill>
                  <a:srgbClr val="FFFFFF"/>
                </a:solidFill>
              </a:rPr>
            </a:br>
            <a:r>
              <a:rPr lang="en-ZA" sz="2000" dirty="0">
                <a:solidFill>
                  <a:srgbClr val="FFFFFF"/>
                </a:solidFill>
              </a:rPr>
              <a:t>The sales from the perspective of product categories clarifies why we see sales performing better during the winter mornings, and that is because hot products like coffee and tea, and the bakery are most loved in this establishment, better than just buying coffee beans and some flavours.</a:t>
            </a:r>
            <a:br>
              <a:rPr lang="en-ZA" sz="4000" dirty="0">
                <a:solidFill>
                  <a:srgbClr val="FFFFFF"/>
                </a:solidFill>
              </a:rPr>
            </a:br>
            <a:endParaRPr lang="en-ZA" sz="4000" dirty="0">
              <a:solidFill>
                <a:srgbClr val="FFFFFF"/>
              </a:solidFill>
            </a:endParaRPr>
          </a:p>
        </p:txBody>
      </p:sp>
      <p:graphicFrame>
        <p:nvGraphicFramePr>
          <p:cNvPr id="8" name="Content Placeholder 7">
            <a:extLst>
              <a:ext uri="{FF2B5EF4-FFF2-40B4-BE49-F238E27FC236}">
                <a16:creationId xmlns:a16="http://schemas.microsoft.com/office/drawing/2014/main" id="{78F3B9E5-C350-BF55-57AB-ABA0A6C9AFA6}"/>
              </a:ext>
            </a:extLst>
          </p:cNvPr>
          <p:cNvGraphicFramePr>
            <a:graphicFrameLocks noGrp="1"/>
          </p:cNvGraphicFramePr>
          <p:nvPr>
            <p:ph idx="1"/>
            <p:extLst>
              <p:ext uri="{D42A27DB-BD31-4B8C-83A1-F6EECF244321}">
                <p14:modId xmlns:p14="http://schemas.microsoft.com/office/powerpoint/2010/main" val="3597849254"/>
              </p:ext>
            </p:extLst>
          </p:nvPr>
        </p:nvGraphicFramePr>
        <p:xfrm>
          <a:off x="65311" y="2120329"/>
          <a:ext cx="5029199" cy="41928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AC5228AB-7F9A-4806-87BB-82A7D9F58FA5}"/>
              </a:ext>
            </a:extLst>
          </p:cNvPr>
          <p:cNvGraphicFramePr>
            <a:graphicFrameLocks/>
          </p:cNvGraphicFramePr>
          <p:nvPr>
            <p:extLst>
              <p:ext uri="{D42A27DB-BD31-4B8C-83A1-F6EECF244321}">
                <p14:modId xmlns:p14="http://schemas.microsoft.com/office/powerpoint/2010/main" val="353381989"/>
              </p:ext>
            </p:extLst>
          </p:nvPr>
        </p:nvGraphicFramePr>
        <p:xfrm>
          <a:off x="5268683" y="2338945"/>
          <a:ext cx="6749143" cy="37555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51135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ffee machine on a counter&#10;&#10;AI-generated content may be incorrect.">
            <a:extLst>
              <a:ext uri="{FF2B5EF4-FFF2-40B4-BE49-F238E27FC236}">
                <a16:creationId xmlns:a16="http://schemas.microsoft.com/office/drawing/2014/main" id="{EDB9EE5C-426C-0E8F-290D-BB8CB4362B6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6237"/>
          <a:stretch>
            <a:fillRect/>
          </a:stretch>
        </p:blipFill>
        <p:spPr>
          <a:xfrm>
            <a:off x="2522356" y="10"/>
            <a:ext cx="9669642" cy="6857990"/>
          </a:xfrm>
          <a:prstGeom prst="rect">
            <a:avLst/>
          </a:prstGeom>
        </p:spPr>
      </p:pic>
      <p:sp>
        <p:nvSpPr>
          <p:cNvPr id="32" name="Rectangle 3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151B3F-E4DF-94E7-1CBB-8EDA493D98EF}"/>
              </a:ext>
            </a:extLst>
          </p:cNvPr>
          <p:cNvSpPr>
            <a:spLocks noGrp="1"/>
          </p:cNvSpPr>
          <p:nvPr>
            <p:ph type="title"/>
          </p:nvPr>
        </p:nvSpPr>
        <p:spPr>
          <a:xfrm>
            <a:off x="838200" y="365125"/>
            <a:ext cx="3822189" cy="1899912"/>
          </a:xfrm>
        </p:spPr>
        <p:txBody>
          <a:bodyPr>
            <a:normAutofit/>
          </a:bodyPr>
          <a:lstStyle/>
          <a:p>
            <a:r>
              <a:rPr lang="en-ZA" sz="2800" b="1" dirty="0">
                <a:latin typeface="Algerian" panose="04020705040A02060702" pitchFamily="82" charset="0"/>
              </a:rPr>
              <a:t>DISCOVERY </a:t>
            </a:r>
            <a:br>
              <a:rPr lang="en-ZA" sz="2800" b="1" dirty="0">
                <a:latin typeface="Algerian" panose="04020705040A02060702" pitchFamily="82" charset="0"/>
              </a:rPr>
            </a:br>
            <a:r>
              <a:rPr lang="en-ZA" sz="2800" b="1" dirty="0">
                <a:latin typeface="Algerian" panose="04020705040A02060702" pitchFamily="82" charset="0"/>
              </a:rPr>
              <a:t>&amp;</a:t>
            </a:r>
            <a:br>
              <a:rPr lang="en-ZA" sz="2800" b="1" dirty="0">
                <a:latin typeface="Algerian" panose="04020705040A02060702" pitchFamily="82" charset="0"/>
              </a:rPr>
            </a:br>
            <a:r>
              <a:rPr lang="en-ZA" sz="2800" b="1" dirty="0">
                <a:latin typeface="Algerian" panose="04020705040A02060702" pitchFamily="82" charset="0"/>
              </a:rPr>
              <a:t>RECOMMENDATIONS</a:t>
            </a:r>
          </a:p>
        </p:txBody>
      </p:sp>
      <p:sp>
        <p:nvSpPr>
          <p:cNvPr id="3" name="Content Placeholder 2">
            <a:extLst>
              <a:ext uri="{FF2B5EF4-FFF2-40B4-BE49-F238E27FC236}">
                <a16:creationId xmlns:a16="http://schemas.microsoft.com/office/drawing/2014/main" id="{13C396CB-73C4-E761-09A7-C8FA03EE8999}"/>
              </a:ext>
            </a:extLst>
          </p:cNvPr>
          <p:cNvSpPr>
            <a:spLocks noGrp="1"/>
          </p:cNvSpPr>
          <p:nvPr>
            <p:ph idx="1"/>
          </p:nvPr>
        </p:nvSpPr>
        <p:spPr>
          <a:xfrm>
            <a:off x="838199" y="2166257"/>
            <a:ext cx="5606143" cy="4010706"/>
          </a:xfrm>
        </p:spPr>
        <p:txBody>
          <a:bodyPr>
            <a:normAutofit/>
          </a:bodyPr>
          <a:lstStyle/>
          <a:p>
            <a:r>
              <a:rPr lang="en-ZA" sz="2400" b="1" dirty="0">
                <a:solidFill>
                  <a:schemeClr val="accent3">
                    <a:lumMod val="75000"/>
                  </a:schemeClr>
                </a:solidFill>
                <a:latin typeface="Aldhabi" panose="020F0502020204030204" pitchFamily="2" charset="-78"/>
                <a:cs typeface="Aldhabi" panose="020F0502020204030204" pitchFamily="2" charset="-78"/>
              </a:rPr>
              <a:t>Mix flavours with coffees and with teas to boost sales of flavours and promote such combo’s on days that make less revenue according to collected and analysed data.</a:t>
            </a:r>
          </a:p>
          <a:p>
            <a:r>
              <a:rPr lang="en-ZA" sz="2400" b="1" dirty="0">
                <a:solidFill>
                  <a:schemeClr val="accent3">
                    <a:lumMod val="75000"/>
                  </a:schemeClr>
                </a:solidFill>
                <a:latin typeface="Aldhabi" panose="020F0502020204030204" pitchFamily="2" charset="-78"/>
                <a:cs typeface="Aldhabi" panose="020F0502020204030204" pitchFamily="2" charset="-78"/>
              </a:rPr>
              <a:t>Have campaign days on weekends and have coffee beans and packaged chocolates as promotion packs and target especially kids, this is due to low weekend sales.</a:t>
            </a:r>
          </a:p>
          <a:p>
            <a:r>
              <a:rPr lang="en-ZA" sz="2400" b="1" dirty="0">
                <a:solidFill>
                  <a:schemeClr val="accent3">
                    <a:lumMod val="75000"/>
                  </a:schemeClr>
                </a:solidFill>
                <a:latin typeface="Aldhabi" panose="020F0502020204030204" pitchFamily="2" charset="-78"/>
                <a:cs typeface="Aldhabi" panose="020F0502020204030204" pitchFamily="2" charset="-78"/>
              </a:rPr>
              <a:t>Make </a:t>
            </a:r>
            <a:r>
              <a:rPr lang="en-ZA" sz="2400" b="1" dirty="0" err="1">
                <a:solidFill>
                  <a:schemeClr val="accent3">
                    <a:lumMod val="75000"/>
                  </a:schemeClr>
                </a:solidFill>
                <a:latin typeface="Aldhabi" panose="020F0502020204030204" pitchFamily="2" charset="-78"/>
                <a:cs typeface="Aldhabi" panose="020F0502020204030204" pitchFamily="2" charset="-78"/>
              </a:rPr>
              <a:t>Freezo’s</a:t>
            </a:r>
            <a:r>
              <a:rPr lang="en-ZA" sz="2400" b="1" dirty="0">
                <a:solidFill>
                  <a:schemeClr val="accent3">
                    <a:lumMod val="75000"/>
                  </a:schemeClr>
                </a:solidFill>
                <a:latin typeface="Aldhabi" panose="020F0502020204030204" pitchFamily="2" charset="-78"/>
                <a:cs typeface="Aldhabi" panose="020F0502020204030204" pitchFamily="2" charset="-78"/>
              </a:rPr>
              <a:t>, slush drinks, Iced coffees and iced teas to boost summer sales and evening sales.</a:t>
            </a:r>
          </a:p>
          <a:p>
            <a:r>
              <a:rPr lang="en-ZA" sz="2400" b="1" dirty="0">
                <a:solidFill>
                  <a:schemeClr val="accent3">
                    <a:lumMod val="75000"/>
                  </a:schemeClr>
                </a:solidFill>
                <a:latin typeface="Aldhabi" panose="020F0502020204030204" pitchFamily="2" charset="-78"/>
                <a:cs typeface="Aldhabi" panose="020F0502020204030204" pitchFamily="2" charset="-78"/>
              </a:rPr>
              <a:t>In addition to boosting summer sales, the shop could have picnic themes in summer to boost </a:t>
            </a:r>
            <a:r>
              <a:rPr lang="en-ZA" sz="2400" b="1">
                <a:solidFill>
                  <a:schemeClr val="accent3">
                    <a:lumMod val="75000"/>
                  </a:schemeClr>
                </a:solidFill>
                <a:latin typeface="Aldhabi" panose="020F0502020204030204" pitchFamily="2" charset="-78"/>
                <a:cs typeface="Aldhabi" panose="020F0502020204030204" pitchFamily="2" charset="-78"/>
              </a:rPr>
              <a:t>special campaigns.</a:t>
            </a:r>
            <a:endParaRPr lang="en-ZA" sz="2400" b="1" dirty="0">
              <a:solidFill>
                <a:schemeClr val="accent3">
                  <a:lumMod val="75000"/>
                </a:schemeClr>
              </a:solidFill>
              <a:latin typeface="Aldhabi" panose="020F0502020204030204" pitchFamily="2" charset="-78"/>
              <a:cs typeface="Aldhabi" panose="020F0502020204030204" pitchFamily="2" charset="-78"/>
            </a:endParaRPr>
          </a:p>
        </p:txBody>
      </p:sp>
      <p:sp>
        <p:nvSpPr>
          <p:cNvPr id="6" name="TextBox 5">
            <a:extLst>
              <a:ext uri="{FF2B5EF4-FFF2-40B4-BE49-F238E27FC236}">
                <a16:creationId xmlns:a16="http://schemas.microsoft.com/office/drawing/2014/main" id="{AA442616-4897-7E69-1B71-7039B73A9670}"/>
              </a:ext>
            </a:extLst>
          </p:cNvPr>
          <p:cNvSpPr txBox="1"/>
          <p:nvPr/>
        </p:nvSpPr>
        <p:spPr>
          <a:xfrm>
            <a:off x="9766336" y="6657945"/>
            <a:ext cx="2425664" cy="200055"/>
          </a:xfrm>
          <a:prstGeom prst="rect">
            <a:avLst/>
          </a:prstGeom>
          <a:solidFill>
            <a:srgbClr val="000000"/>
          </a:solidFill>
        </p:spPr>
        <p:txBody>
          <a:bodyPr wrap="none" rtlCol="0">
            <a:spAutoFit/>
          </a:bodyPr>
          <a:lstStyle/>
          <a:p>
            <a:pPr algn="r">
              <a:spcAft>
                <a:spcPts val="600"/>
              </a:spcAft>
            </a:pPr>
            <a:r>
              <a:rPr lang="en-ZA" sz="700">
                <a:solidFill>
                  <a:srgbClr val="FFFFFF"/>
                </a:solidFill>
                <a:hlinkClick r:id="rId3" tooltip="https://www.flickr.com/photos/northkoreatravel/10194462015/">
                  <a:extLst>
                    <a:ext uri="{A12FA001-AC4F-418D-AE19-62706E023703}">
                      <ahyp:hlinkClr xmlns:ahyp="http://schemas.microsoft.com/office/drawing/2018/hyperlinkcolor" val="tx"/>
                    </a:ext>
                  </a:extLst>
                </a:hlinkClick>
              </a:rPr>
              <a:t>This Photo</a:t>
            </a:r>
            <a:r>
              <a:rPr lang="en-ZA" sz="700">
                <a:solidFill>
                  <a:srgbClr val="FFFFFF"/>
                </a:solidFill>
              </a:rPr>
              <a:t> by Unknown Author is licensed under </a:t>
            </a:r>
            <a:r>
              <a:rPr lang="en-ZA"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ZA" sz="700">
              <a:solidFill>
                <a:srgbClr val="FFFFFF"/>
              </a:solidFill>
            </a:endParaRPr>
          </a:p>
        </p:txBody>
      </p:sp>
    </p:spTree>
    <p:extLst>
      <p:ext uri="{BB962C8B-B14F-4D97-AF65-F5344CB8AC3E}">
        <p14:creationId xmlns:p14="http://schemas.microsoft.com/office/powerpoint/2010/main" val="20331926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3510</TotalTime>
  <Words>482</Words>
  <Application>Microsoft Office PowerPoint</Application>
  <PresentationFormat>Widescreen</PresentationFormat>
  <Paragraphs>13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Aldhabi</vt:lpstr>
      <vt:lpstr>Algerian</vt:lpstr>
      <vt:lpstr>Aptos</vt:lpstr>
      <vt:lpstr>Aptos Display</vt:lpstr>
      <vt:lpstr>Arial</vt:lpstr>
      <vt:lpstr>Office Theme</vt:lpstr>
      <vt:lpstr>BRIGHT COFFEE SHOP | SHOPPING TRENDS  Andile Ngcongwane | DATA ANALYTICS</vt:lpstr>
      <vt:lpstr>Total number of sales over 6 months: 149116 The shop sales have been consistently making higher sales over the period of 6 months, evidently sales grow as seasons approach winter </vt:lpstr>
      <vt:lpstr> Revenue per day of the week for each shop Data in this chart specifies the top performing shop per day of the week Hell’s Kitchen generate the most revenue on Tuesdays and Fridays than all the shops Lower Manhattan takes the number 2 spot for revenue it generates on Mondays, but is closely followed by Astoria on the same day However, on Wednesdays and Thursdays Astoria keeps their revenue higher than all the shops Fridays is Hell’s Kitchen day due to their high revenue they suddenly gain beating all 3 shops by a mile  </vt:lpstr>
      <vt:lpstr>Number of Sales (Weekday/Weekend) The establishment makes better sales during the week than it does on the weekends, perhaps this is caused by the customers seeing the establishment as an ideal place to fill the rush before business day begins</vt:lpstr>
      <vt:lpstr>Revenue per time of day (Morning, Afternoon and Evening) Sales reflect that every morning at all stores customers buy more as compared to the afternoons and evenings which simply means the products are good for mornings consumption.</vt:lpstr>
      <vt:lpstr>Revenue per season The store makes the most sales in winter, the season before which is autumn the sales reflect a rally in trend indicating that the products are ideal for a cold weather. If we look back at the previous data of time of day, the mornings make better sales than afternoons and evenings which still indicates the same point of the products being ideal for the cold weather.</vt:lpstr>
      <vt:lpstr>Transaction QTY per product category The sales from the perspective of product categories clarifies why we see sales performing better during the winter mornings, and that is because hot products like coffee and tea, and the bakery are most loved in this establishment, better than just buying coffee beans and some flavours. </vt:lpstr>
      <vt:lpstr>DISCOVERY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Andile Ngcongwane</dc:creator>
  <cp:lastModifiedBy>Andile Ngcongwane</cp:lastModifiedBy>
  <cp:revision>22</cp:revision>
  <dcterms:created xsi:type="dcterms:W3CDTF">2025-11-07T09:33:14Z</dcterms:created>
  <dcterms:modified xsi:type="dcterms:W3CDTF">2025-11-10T07:23:58Z</dcterms:modified>
</cp:coreProperties>
</file>